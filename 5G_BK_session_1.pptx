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sdx" ContentType="application/vnd.ms-visio.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50"/>
  </p:notesMasterIdLst>
  <p:sldIdLst>
    <p:sldId id="256" r:id="rId2"/>
    <p:sldId id="419" r:id="rId3"/>
    <p:sldId id="4277" r:id="rId4"/>
    <p:sldId id="346" r:id="rId5"/>
    <p:sldId id="287" r:id="rId6"/>
    <p:sldId id="313" r:id="rId7"/>
    <p:sldId id="316" r:id="rId8"/>
    <p:sldId id="314" r:id="rId9"/>
    <p:sldId id="315" r:id="rId10"/>
    <p:sldId id="320" r:id="rId11"/>
    <p:sldId id="321" r:id="rId12"/>
    <p:sldId id="322" r:id="rId13"/>
    <p:sldId id="410" r:id="rId14"/>
    <p:sldId id="4276" r:id="rId15"/>
    <p:sldId id="326" r:id="rId16"/>
    <p:sldId id="327" r:id="rId17"/>
    <p:sldId id="267" r:id="rId18"/>
    <p:sldId id="328" r:id="rId19"/>
    <p:sldId id="4275" r:id="rId20"/>
    <p:sldId id="340" r:id="rId21"/>
    <p:sldId id="329" r:id="rId22"/>
    <p:sldId id="366" r:id="rId23"/>
    <p:sldId id="382" r:id="rId24"/>
    <p:sldId id="4274" r:id="rId25"/>
    <p:sldId id="367" r:id="rId26"/>
    <p:sldId id="349" r:id="rId27"/>
    <p:sldId id="350" r:id="rId28"/>
    <p:sldId id="353" r:id="rId29"/>
    <p:sldId id="345" r:id="rId30"/>
    <p:sldId id="342" r:id="rId31"/>
    <p:sldId id="370" r:id="rId32"/>
    <p:sldId id="371" r:id="rId33"/>
    <p:sldId id="372" r:id="rId34"/>
    <p:sldId id="379" r:id="rId35"/>
    <p:sldId id="380" r:id="rId36"/>
    <p:sldId id="373" r:id="rId37"/>
    <p:sldId id="374" r:id="rId38"/>
    <p:sldId id="376" r:id="rId39"/>
    <p:sldId id="375" r:id="rId40"/>
    <p:sldId id="341" r:id="rId41"/>
    <p:sldId id="4279" r:id="rId42"/>
    <p:sldId id="4280" r:id="rId43"/>
    <p:sldId id="4281" r:id="rId44"/>
    <p:sldId id="4282" r:id="rId45"/>
    <p:sldId id="4283" r:id="rId46"/>
    <p:sldId id="4278" r:id="rId47"/>
    <p:sldId id="338" r:id="rId48"/>
    <p:sldId id="330" r:id="rId49"/>
  </p:sldIdLst>
  <p:sldSz cx="9144000" cy="5143500" type="screen16x9"/>
  <p:notesSz cx="7010400" cy="92964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CCCB"/>
    <a:srgbClr val="B78484"/>
    <a:srgbClr val="7F7F7F"/>
    <a:srgbClr val="000000"/>
    <a:srgbClr val="EE0033"/>
    <a:srgbClr val="ED1A36"/>
    <a:srgbClr val="B5B4B4"/>
    <a:srgbClr val="44494D"/>
    <a:srgbClr val="F2F2F2"/>
    <a:srgbClr val="B4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C2FFA5D-87B4-456A-9821-1D502468CF0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08" autoAdjust="0"/>
    <p:restoredTop sz="93225" autoAdjust="0"/>
  </p:normalViewPr>
  <p:slideViewPr>
    <p:cSldViewPr snapToGrid="0">
      <p:cViewPr varScale="1">
        <p:scale>
          <a:sx n="141" d="100"/>
          <a:sy n="141" d="100"/>
        </p:scale>
        <p:origin x="9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45DB51E4-EFE8-4744-90F5-0C9C3F576B4E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1177FDD-D4CF-49C8-A49F-80D70730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17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E138E4-0288-4F8F-80B6-68657A320CB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98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7C98B-E635-4FD5-8E0F-6E2F3990E4C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96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E138E4-0288-4F8F-80B6-68657A320CB3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208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ETWS: Earthquake and Tsunami Warning System </a:t>
            </a:r>
            <a:br>
              <a:rPr lang="en-US"/>
            </a:br>
            <a:r>
              <a:rPr lang="en-US"/>
              <a:t>- CMAS: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Commercial Mobile Alert System</a:t>
            </a:r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177FDD-D4CF-49C8-A49F-80D707301AD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6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4A73-8E17-4263-9ADE-0787C17C9E70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19B7-A873-4BEE-96DE-1E225D93D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4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4A73-8E17-4263-9ADE-0787C17C9E70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19B7-A873-4BEE-96DE-1E225D93DB0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8216BA-05A1-8109-9527-FF7A9AC431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1340772"/>
            <a:ext cx="3505200" cy="343198"/>
          </a:xfrm>
          <a:prstGeom prst="rect">
            <a:avLst/>
          </a:prstGeom>
        </p:spPr>
        <p:txBody>
          <a:bodyPr/>
          <a:lstStyle>
            <a:lvl1pPr>
              <a:defRPr lang="en-US" sz="1350" kern="1200" dirty="0" smtClean="0">
                <a:solidFill>
                  <a:srgbClr val="FF0000"/>
                </a:solidFill>
                <a:latin typeface="FS PF BeauSans Pro" panose="02000500000000020004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CB8755C-429C-B982-4E61-88B2F551D9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" y="1702889"/>
            <a:ext cx="3505200" cy="343198"/>
          </a:xfrm>
          <a:prstGeom prst="rect">
            <a:avLst/>
          </a:prstGeom>
        </p:spPr>
        <p:txBody>
          <a:bodyPr/>
          <a:lstStyle>
            <a:lvl1pPr>
              <a:defRPr lang="en-US" sz="1350" kern="1200" dirty="0" smtClean="0">
                <a:solidFill>
                  <a:srgbClr val="000000"/>
                </a:solidFill>
                <a:latin typeface="FS PF BeauSans Pro" panose="02000500000000020004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2345A06E-7757-5F6E-977F-9EF1B9B3F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650" y="2057132"/>
            <a:ext cx="3505200" cy="343198"/>
          </a:xfrm>
          <a:prstGeom prst="rect">
            <a:avLst/>
          </a:prstGeom>
        </p:spPr>
        <p:txBody>
          <a:bodyPr/>
          <a:lstStyle>
            <a:lvl1pPr>
              <a:defRPr lang="en-US" sz="1350" kern="1200" dirty="0" smtClean="0">
                <a:solidFill>
                  <a:srgbClr val="44494D"/>
                </a:solidFill>
                <a:latin typeface="FS PF BeauSans Pro" panose="02000500000000020004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0C69A30-4A60-98F3-33EF-DAA88DC7292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8650" y="2408668"/>
            <a:ext cx="3505200" cy="343198"/>
          </a:xfrm>
          <a:prstGeom prst="rect">
            <a:avLst/>
          </a:prstGeom>
        </p:spPr>
        <p:txBody>
          <a:bodyPr/>
          <a:lstStyle>
            <a:lvl1pPr>
              <a:defRPr lang="en-US" sz="1350" kern="1200" dirty="0" smtClean="0">
                <a:solidFill>
                  <a:srgbClr val="B5B4B4"/>
                </a:solidFill>
                <a:latin typeface="FS PF BeauSans Pro" panose="02000500000000020004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A5F1A59-BEAA-C85F-48F8-68B1A576A5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650" y="2751668"/>
            <a:ext cx="3505200" cy="343198"/>
          </a:xfrm>
          <a:prstGeom prst="rect">
            <a:avLst/>
          </a:prstGeom>
        </p:spPr>
        <p:txBody>
          <a:bodyPr/>
          <a:lstStyle>
            <a:lvl1pPr>
              <a:defRPr lang="en-US" sz="1350" kern="1200" baseline="0" dirty="0" smtClean="0">
                <a:solidFill>
                  <a:srgbClr val="B5B4B4"/>
                </a:solidFill>
                <a:latin typeface="FS PF BeauSans Pro" panose="02000500000000020004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Close Master View Close</a:t>
            </a:r>
          </a:p>
        </p:txBody>
      </p:sp>
    </p:spTree>
    <p:extLst>
      <p:ext uri="{BB962C8B-B14F-4D97-AF65-F5344CB8AC3E}">
        <p14:creationId xmlns:p14="http://schemas.microsoft.com/office/powerpoint/2010/main" val="4243009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4A73-8E17-4263-9ADE-0787C17C9E70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19B7-A873-4BEE-96DE-1E225D93D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45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4A73-8E17-4263-9ADE-0787C17C9E70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19B7-A873-4BEE-96DE-1E225D93DB0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7722C63-2A04-5110-42EF-6B2583463A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1340772"/>
            <a:ext cx="3505200" cy="343198"/>
          </a:xfrm>
          <a:prstGeom prst="rect">
            <a:avLst/>
          </a:prstGeom>
        </p:spPr>
        <p:txBody>
          <a:bodyPr/>
          <a:lstStyle>
            <a:lvl1pPr>
              <a:defRPr lang="en-US" sz="1350" kern="1200" dirty="0" smtClean="0">
                <a:solidFill>
                  <a:srgbClr val="FF0000"/>
                </a:solidFill>
                <a:latin typeface="FS PF BeauSans Pro" panose="02000500000000020004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527B26C9-B4E1-E308-7B4C-5822382A41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" y="1702889"/>
            <a:ext cx="3505200" cy="343198"/>
          </a:xfrm>
          <a:prstGeom prst="rect">
            <a:avLst/>
          </a:prstGeom>
        </p:spPr>
        <p:txBody>
          <a:bodyPr/>
          <a:lstStyle>
            <a:lvl1pPr>
              <a:defRPr lang="en-US" sz="1350" kern="1200" dirty="0" smtClean="0">
                <a:solidFill>
                  <a:srgbClr val="000000"/>
                </a:solidFill>
                <a:latin typeface="FS PF BeauSans Pro" panose="02000500000000020004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D0BC3C9E-D0F8-B838-726A-E937BAED0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650" y="2057132"/>
            <a:ext cx="3505200" cy="343198"/>
          </a:xfrm>
          <a:prstGeom prst="rect">
            <a:avLst/>
          </a:prstGeom>
        </p:spPr>
        <p:txBody>
          <a:bodyPr/>
          <a:lstStyle>
            <a:lvl1pPr>
              <a:defRPr lang="en-US" sz="1350" kern="1200" dirty="0" smtClean="0">
                <a:solidFill>
                  <a:srgbClr val="44494D"/>
                </a:solidFill>
                <a:latin typeface="FS PF BeauSans Pro" panose="02000500000000020004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796B722-F26E-915A-A0CC-9A61B367A6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8650" y="2408668"/>
            <a:ext cx="3505200" cy="343198"/>
          </a:xfrm>
          <a:prstGeom prst="rect">
            <a:avLst/>
          </a:prstGeom>
        </p:spPr>
        <p:txBody>
          <a:bodyPr/>
          <a:lstStyle>
            <a:lvl1pPr>
              <a:defRPr lang="en-US" sz="1350" kern="1200" dirty="0" smtClean="0">
                <a:solidFill>
                  <a:srgbClr val="B5B4B4"/>
                </a:solidFill>
                <a:latin typeface="FS PF BeauSans Pro" panose="02000500000000020004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A90F07F-A22E-2E9B-FC46-C832C01C2E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8650" y="2751668"/>
            <a:ext cx="3505200" cy="343198"/>
          </a:xfrm>
          <a:prstGeom prst="rect">
            <a:avLst/>
          </a:prstGeom>
        </p:spPr>
        <p:txBody>
          <a:bodyPr/>
          <a:lstStyle>
            <a:lvl1pPr>
              <a:defRPr lang="en-US" sz="1350" kern="1200" dirty="0" smtClean="0">
                <a:solidFill>
                  <a:srgbClr val="B5B4B4"/>
                </a:solidFill>
                <a:latin typeface="FS PF BeauSans Pro" panose="02000500000000020004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8265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4A73-8E17-4263-9ADE-0787C17C9E70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19B7-A873-4BEE-96DE-1E225D93D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50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4A73-8E17-4263-9ADE-0787C17C9E70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19B7-A873-4BEE-96DE-1E225D93D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997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4A73-8E17-4263-9ADE-0787C17C9E70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19B7-A873-4BEE-96DE-1E225D93D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91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276735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4A73-8E17-4263-9ADE-0787C17C9E70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19B7-A873-4BEE-96DE-1E225D93D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82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4A73-8E17-4263-9ADE-0787C17C9E70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19B7-A873-4BEE-96DE-1E225D93D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63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581400"/>
          </a:xfrm>
        </p:spPr>
        <p:txBody>
          <a:bodyPr/>
          <a:lstStyle>
            <a:lvl1pPr>
              <a:defRPr sz="2100">
                <a:solidFill>
                  <a:srgbClr val="4F5153"/>
                </a:solidFill>
              </a:defRPr>
            </a:lvl1pPr>
            <a:lvl2pPr>
              <a:defRPr sz="1950">
                <a:solidFill>
                  <a:schemeClr val="accent1"/>
                </a:solidFill>
              </a:defRPr>
            </a:lvl2pPr>
            <a:lvl3pPr>
              <a:defRPr sz="1500">
                <a:solidFill>
                  <a:schemeClr val="accent1"/>
                </a:solidFill>
              </a:defRPr>
            </a:lvl3pPr>
            <a:lvl4pPr>
              <a:defRPr sz="2200">
                <a:solidFill>
                  <a:schemeClr val="accent1"/>
                </a:solidFill>
              </a:defRPr>
            </a:lvl4pPr>
            <a:lvl5pPr>
              <a:defRPr sz="21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93B27-77B4-459B-9AA7-1CF5E7276C14}" type="datetime1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8/4/2024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>
                <a:solidFill>
                  <a:srgbClr val="000000">
                    <a:tint val="75000"/>
                  </a:srgbClr>
                </a:solidFill>
              </a:rPr>
              <a:t>FD-MIMO in 3GPP standards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92608-F581-40EA-8D91-AF1134355C16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793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14A73-8E17-4263-9ADE-0787C17C9E70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AC19B7-A873-4BEE-96DE-1E225D93DB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AE30FD-CF21-06D0-4081-D18E35CD1510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03247"/>
            <a:ext cx="9144000" cy="5402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EC79D4-0438-5CA1-1228-E81A1EF686AC}"/>
              </a:ext>
            </a:extLst>
          </p:cNvPr>
          <p:cNvSpPr txBox="1"/>
          <p:nvPr userDrawn="1"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spc="300" dirty="0">
                <a:solidFill>
                  <a:srgbClr val="B4B4B4"/>
                </a:solidFill>
                <a:latin typeface="FS PF BeauSans Pro Light" panose="02000500000000020004" pitchFamily="2" charset="0"/>
              </a:rPr>
              <a:t>www.viettelrd.com.vn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42538B-DB88-8EF9-E01E-066B79ACD3C4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175" y="4756150"/>
            <a:ext cx="975214" cy="21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61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2800" kern="1200" dirty="0">
          <a:solidFill>
            <a:srgbClr val="EE0033"/>
          </a:solidFill>
          <a:latin typeface="FS PF BeauSans Pro SemiBold" panose="02000503000000020004" pitchFamily="2" charset="0"/>
          <a:ea typeface="+mn-ea"/>
          <a:cs typeface="+mn-cs"/>
        </a:defRPr>
      </a:lvl1pPr>
    </p:titleStyle>
    <p:bodyStyle>
      <a:lvl1pPr marL="0" marR="0" indent="0" algn="l" defTabSz="685800" rtl="0" eaLnBrk="1" fontAlgn="auto" latinLnBrk="0" hangingPunct="1">
        <a:lnSpc>
          <a:spcPct val="90000"/>
        </a:lnSpc>
        <a:spcBef>
          <a:spcPts val="75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lang="en-US" sz="1350" kern="1200" dirty="0">
          <a:solidFill>
            <a:schemeClr val="tx1"/>
          </a:solidFill>
          <a:latin typeface="FS PF BeauSans Pro" panose="02000500000000020004" pitchFamily="2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350" kern="1200" dirty="0">
          <a:solidFill>
            <a:schemeClr val="tx1"/>
          </a:solidFill>
          <a:latin typeface="FS PF BeauSans Pro" panose="02000500000000020004" pitchFamily="2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350" kern="1200" dirty="0">
          <a:solidFill>
            <a:schemeClr val="tx1"/>
          </a:solidFill>
          <a:latin typeface="FS PF BeauSans Pro" panose="02000500000000020004" pitchFamily="2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350" kern="1200" dirty="0">
          <a:solidFill>
            <a:schemeClr val="tx1"/>
          </a:solidFill>
          <a:latin typeface="FS PF BeauSans Pro" panose="02000500000000020004" pitchFamily="2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350" kern="1200" dirty="0">
          <a:solidFill>
            <a:schemeClr val="tx1"/>
          </a:solidFill>
          <a:latin typeface="FS PF BeauSans Pro" panose="02000500000000020004" pitchFamily="2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image" Target="../media/image7.emf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Visio_Drawing1.vsdx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hyperlink" Target="https://www.3gpp.org/DynaReport/38340.htm" TargetMode="External"/><Relationship Id="rId18" Type="http://schemas.openxmlformats.org/officeDocument/2006/relationships/hyperlink" Target="https://www.3gpp.org/DynaReport/38413.htm" TargetMode="External"/><Relationship Id="rId26" Type="http://schemas.openxmlformats.org/officeDocument/2006/relationships/hyperlink" Target="https://www.3gpp.org/DynaReport/38425.htm" TargetMode="External"/><Relationship Id="rId39" Type="http://schemas.openxmlformats.org/officeDocument/2006/relationships/hyperlink" Target="https://www.3gpp.org/DynaReport/38141-2.htm" TargetMode="External"/><Relationship Id="rId21" Type="http://schemas.openxmlformats.org/officeDocument/2006/relationships/hyperlink" Target="https://www.3gpp.org/DynaReport/38420.htm" TargetMode="External"/><Relationship Id="rId34" Type="http://schemas.openxmlformats.org/officeDocument/2006/relationships/hyperlink" Target="https://www.3gpp.org/DynaReport/38472.htm" TargetMode="External"/><Relationship Id="rId42" Type="http://schemas.openxmlformats.org/officeDocument/2006/relationships/hyperlink" Target="https://www.3gpp.org/DynaReport/38104.htm" TargetMode="External"/><Relationship Id="rId7" Type="http://schemas.openxmlformats.org/officeDocument/2006/relationships/hyperlink" Target="https://www.3gpp.org/DynaReport/38214.htm" TargetMode="External"/><Relationship Id="rId2" Type="http://schemas.openxmlformats.org/officeDocument/2006/relationships/hyperlink" Target="https://www.3gpp.org/DynaReport/38201.htm" TargetMode="External"/><Relationship Id="rId16" Type="http://schemas.openxmlformats.org/officeDocument/2006/relationships/hyperlink" Target="https://www.3gpp.org/DynaReport/38411.htm" TargetMode="External"/><Relationship Id="rId20" Type="http://schemas.openxmlformats.org/officeDocument/2006/relationships/hyperlink" Target="https://www.3gpp.org/DynaReport/38415.htm" TargetMode="External"/><Relationship Id="rId29" Type="http://schemas.openxmlformats.org/officeDocument/2006/relationships/hyperlink" Target="https://www.3gpp.org/DynaReport/38461.htm" TargetMode="External"/><Relationship Id="rId41" Type="http://schemas.openxmlformats.org/officeDocument/2006/relationships/hyperlink" Target="https://www.3gpp.org/DynaReport/38133.htm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www.3gpp.org/DynaReport/38213.htm" TargetMode="External"/><Relationship Id="rId11" Type="http://schemas.openxmlformats.org/officeDocument/2006/relationships/hyperlink" Target="https://www.3gpp.org/DynaReport/38323.htm" TargetMode="External"/><Relationship Id="rId24" Type="http://schemas.openxmlformats.org/officeDocument/2006/relationships/hyperlink" Target="https://www.3gpp.org/DynaReport/38423.htm" TargetMode="External"/><Relationship Id="rId32" Type="http://schemas.openxmlformats.org/officeDocument/2006/relationships/hyperlink" Target="https://www.3gpp.org/DynaReport/38470.htm" TargetMode="External"/><Relationship Id="rId37" Type="http://schemas.openxmlformats.org/officeDocument/2006/relationships/hyperlink" Target="https://www.3gpp.org/DynaReport/38475.htm" TargetMode="External"/><Relationship Id="rId40" Type="http://schemas.openxmlformats.org/officeDocument/2006/relationships/hyperlink" Target="https://www.3gpp.org/DynaReport/38810.htm" TargetMode="External"/><Relationship Id="rId5" Type="http://schemas.openxmlformats.org/officeDocument/2006/relationships/hyperlink" Target="https://www.3gpp.org/DynaReport/38212.htm" TargetMode="External"/><Relationship Id="rId15" Type="http://schemas.openxmlformats.org/officeDocument/2006/relationships/hyperlink" Target="https://www.3gpp.org/DynaReport/38410.htm" TargetMode="External"/><Relationship Id="rId23" Type="http://schemas.openxmlformats.org/officeDocument/2006/relationships/hyperlink" Target="https://www.3gpp.org/DynaReport/38422.htm" TargetMode="External"/><Relationship Id="rId28" Type="http://schemas.openxmlformats.org/officeDocument/2006/relationships/hyperlink" Target="https://www.3gpp.org/DynaReport/38460.htm" TargetMode="External"/><Relationship Id="rId36" Type="http://schemas.openxmlformats.org/officeDocument/2006/relationships/hyperlink" Target="https://www.3gpp.org/DynaReport/38474.htm" TargetMode="External"/><Relationship Id="rId10" Type="http://schemas.openxmlformats.org/officeDocument/2006/relationships/hyperlink" Target="https://www.3gpp.org/DynaReport/38322.htm" TargetMode="External"/><Relationship Id="rId19" Type="http://schemas.openxmlformats.org/officeDocument/2006/relationships/hyperlink" Target="https://www.3gpp.org/DynaReport/38414.htm" TargetMode="External"/><Relationship Id="rId31" Type="http://schemas.openxmlformats.org/officeDocument/2006/relationships/hyperlink" Target="https://www.3gpp.org/DynaReport/38463.htm" TargetMode="External"/><Relationship Id="rId4" Type="http://schemas.openxmlformats.org/officeDocument/2006/relationships/hyperlink" Target="https://www.3gpp.org/DynaReport/38211.htm" TargetMode="External"/><Relationship Id="rId9" Type="http://schemas.openxmlformats.org/officeDocument/2006/relationships/hyperlink" Target="https://www.3gpp.org/DynaReport/38321.htm" TargetMode="External"/><Relationship Id="rId14" Type="http://schemas.openxmlformats.org/officeDocument/2006/relationships/hyperlink" Target="https://www.3gpp.org/DynaReport/38401.htm" TargetMode="External"/><Relationship Id="rId22" Type="http://schemas.openxmlformats.org/officeDocument/2006/relationships/hyperlink" Target="https://www.3gpp.org/DynaReport/38421.htm" TargetMode="External"/><Relationship Id="rId27" Type="http://schemas.openxmlformats.org/officeDocument/2006/relationships/hyperlink" Target="https://www.3gpp.org/DynaReport/38455.htm" TargetMode="External"/><Relationship Id="rId30" Type="http://schemas.openxmlformats.org/officeDocument/2006/relationships/hyperlink" Target="https://www.3gpp.org/DynaReport/38462.htm" TargetMode="External"/><Relationship Id="rId35" Type="http://schemas.openxmlformats.org/officeDocument/2006/relationships/hyperlink" Target="https://www.3gpp.org/DynaReport/38473.htm" TargetMode="External"/><Relationship Id="rId8" Type="http://schemas.openxmlformats.org/officeDocument/2006/relationships/hyperlink" Target="https://www.3gpp.org/DynaReport/38215.htm" TargetMode="External"/><Relationship Id="rId3" Type="http://schemas.openxmlformats.org/officeDocument/2006/relationships/hyperlink" Target="https://www.3gpp.org/DynaReport/38202.htm" TargetMode="External"/><Relationship Id="rId12" Type="http://schemas.openxmlformats.org/officeDocument/2006/relationships/hyperlink" Target="https://www.3gpp.org/DynaReport/38331.htm" TargetMode="External"/><Relationship Id="rId17" Type="http://schemas.openxmlformats.org/officeDocument/2006/relationships/hyperlink" Target="https://www.3gpp.org/DynaReport/38412.htm" TargetMode="External"/><Relationship Id="rId25" Type="http://schemas.openxmlformats.org/officeDocument/2006/relationships/hyperlink" Target="https://www.3gpp.org/DynaReport/38424.htm" TargetMode="External"/><Relationship Id="rId33" Type="http://schemas.openxmlformats.org/officeDocument/2006/relationships/hyperlink" Target="https://www.3gpp.org/DynaReport/38471.htm" TargetMode="External"/><Relationship Id="rId38" Type="http://schemas.openxmlformats.org/officeDocument/2006/relationships/hyperlink" Target="https://www.3gpp.org/DynaReport/38141-1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98" y="2571750"/>
            <a:ext cx="3365252" cy="78017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1142" y="2746393"/>
            <a:ext cx="29883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  <a:latin typeface="FS PF BeauSans Pro Light" panose="02000500000000020004" pitchFamily="2" charset="0"/>
              </a:rPr>
              <a:t>YOUR WAY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8500"/>
            <a:ext cx="2841905" cy="46831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0" y="1987215"/>
            <a:ext cx="2988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EE0033"/>
                </a:solidFill>
                <a:latin typeface="FS PF BeauSans Pro SemiBold" panose="02000503000000020004" pitchFamily="2" charset="0"/>
              </a:rPr>
              <a:t>CREATING THE FUTURE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03247"/>
            <a:ext cx="9144000" cy="5402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spc="300" dirty="0">
                <a:solidFill>
                  <a:srgbClr val="B4B4B4"/>
                </a:solidFill>
                <a:latin typeface="FS PF BeauSans Pro Light" panose="02000500000000020004" pitchFamily="2" charset="0"/>
              </a:rPr>
              <a:t>www.viettel.com.vn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175" y="4756150"/>
            <a:ext cx="975214" cy="21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51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09ADFA-85E2-4573-878E-8DF0A644C33D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1D5A714-E69D-4B50-8486-884259908871}"/>
              </a:ext>
            </a:extLst>
          </p:cNvPr>
          <p:cNvSpPr/>
          <p:nvPr/>
        </p:nvSpPr>
        <p:spPr>
          <a:xfrm>
            <a:off x="1543050" y="1601388"/>
            <a:ext cx="7429500" cy="1541863"/>
          </a:xfrm>
          <a:prstGeom prst="roundRect">
            <a:avLst>
              <a:gd name="adj" fmla="val 50000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latin typeface="Sarabun" panose="00000500000000000000" pitchFamily="2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2A302B-922D-4ACF-B028-8D48F3C1819A}"/>
              </a:ext>
            </a:extLst>
          </p:cNvPr>
          <p:cNvSpPr txBox="1"/>
          <p:nvPr/>
        </p:nvSpPr>
        <p:spPr>
          <a:xfrm>
            <a:off x="285750" y="2189389"/>
            <a:ext cx="868680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dirty="0">
                <a:solidFill>
                  <a:schemeClr val="accent1"/>
                </a:solidFill>
                <a:latin typeface="Sarabun SemiBold" panose="00000700000000000000" pitchFamily="2" charset="-34"/>
                <a:cs typeface="Sarabun SemiBold" panose="00000700000000000000" pitchFamily="2" charset="-34"/>
              </a:rPr>
              <a:t>GIẢI PHÁP XÂY DỰNG </a:t>
            </a:r>
            <a:r>
              <a:rPr lang="en-US" sz="27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rabun SemiBold" panose="00000700000000000000" pitchFamily="2" charset="-34"/>
                <a:cs typeface="Sarabun SemiBold" panose="00000700000000000000" pitchFamily="2" charset="-34"/>
              </a:rPr>
              <a:t>MÔI TRƯỜNG VĂN HÓA GẮN KẾT</a:t>
            </a:r>
            <a:r>
              <a:rPr lang="en-US" sz="2700" dirty="0">
                <a:solidFill>
                  <a:schemeClr val="accent1"/>
                </a:solidFill>
                <a:latin typeface="Sarabun SemiBold" panose="00000700000000000000" pitchFamily="2" charset="-34"/>
                <a:cs typeface="Sarabun SemiBold" panose="00000700000000000000" pitchFamily="2" charset="-34"/>
              </a:rPr>
              <a:t>, </a:t>
            </a:r>
            <a:r>
              <a:rPr lang="en-US" sz="27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rabun SemiBold" panose="00000700000000000000" pitchFamily="2" charset="-34"/>
                <a:cs typeface="Sarabun SemiBold" panose="00000700000000000000" pitchFamily="2" charset="-34"/>
              </a:rPr>
              <a:t>SÁNG TẠO </a:t>
            </a:r>
            <a:r>
              <a:rPr lang="en-US" sz="2700" dirty="0">
                <a:solidFill>
                  <a:schemeClr val="accent1"/>
                </a:solidFill>
                <a:latin typeface="Sarabun SemiBold" panose="00000700000000000000" pitchFamily="2" charset="-34"/>
                <a:cs typeface="Sarabun SemiBold" panose="00000700000000000000" pitchFamily="2" charset="-34"/>
              </a:rPr>
              <a:t>GÓP PHẦN GÌN GIỮ VÀ THU HÚT NGUỒN NHÂN LỰC TRẺ CHẤT LƯỢNG CAO 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6AEE19B-B547-4FC3-BCDB-CB461600F97E}"/>
              </a:ext>
            </a:extLst>
          </p:cNvPr>
          <p:cNvSpPr/>
          <p:nvPr/>
        </p:nvSpPr>
        <p:spPr>
          <a:xfrm>
            <a:off x="2100406" y="1092815"/>
            <a:ext cx="4343400" cy="778938"/>
          </a:xfrm>
          <a:custGeom>
            <a:avLst/>
            <a:gdLst>
              <a:gd name="connsiteX0" fmla="*/ 609600 w 5791200"/>
              <a:gd name="connsiteY0" fmla="*/ 0 h 1219200"/>
              <a:gd name="connsiteX1" fmla="*/ 5181600 w 5791200"/>
              <a:gd name="connsiteY1" fmla="*/ 0 h 1219200"/>
              <a:gd name="connsiteX2" fmla="*/ 5778815 w 5791200"/>
              <a:gd name="connsiteY2" fmla="*/ 486744 h 1219200"/>
              <a:gd name="connsiteX3" fmla="*/ 5784194 w 5791200"/>
              <a:gd name="connsiteY3" fmla="*/ 540097 h 1219200"/>
              <a:gd name="connsiteX4" fmla="*/ 5791200 w 5791200"/>
              <a:gd name="connsiteY4" fmla="*/ 540097 h 1219200"/>
              <a:gd name="connsiteX5" fmla="*/ 5791200 w 5791200"/>
              <a:gd name="connsiteY5" fmla="*/ 609600 h 1219200"/>
              <a:gd name="connsiteX6" fmla="*/ 5791200 w 5791200"/>
              <a:gd name="connsiteY6" fmla="*/ 1219200 h 1219200"/>
              <a:gd name="connsiteX7" fmla="*/ 5181600 w 5791200"/>
              <a:gd name="connsiteY7" fmla="*/ 1219200 h 1219200"/>
              <a:gd name="connsiteX8" fmla="*/ 2895600 w 5791200"/>
              <a:gd name="connsiteY8" fmla="*/ 1219200 h 1219200"/>
              <a:gd name="connsiteX9" fmla="*/ 609600 w 5791200"/>
              <a:gd name="connsiteY9" fmla="*/ 1219200 h 1219200"/>
              <a:gd name="connsiteX10" fmla="*/ 0 w 5791200"/>
              <a:gd name="connsiteY10" fmla="*/ 609600 h 1219200"/>
              <a:gd name="connsiteX11" fmla="*/ 609600 w 5791200"/>
              <a:gd name="connsiteY11" fmla="*/ 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791200" h="1219200">
                <a:moveTo>
                  <a:pt x="609600" y="0"/>
                </a:moveTo>
                <a:lnTo>
                  <a:pt x="5181600" y="0"/>
                </a:lnTo>
                <a:cubicBezTo>
                  <a:pt x="5476189" y="0"/>
                  <a:pt x="5721972" y="208960"/>
                  <a:pt x="5778815" y="486744"/>
                </a:cubicBezTo>
                <a:lnTo>
                  <a:pt x="5784194" y="540097"/>
                </a:lnTo>
                <a:lnTo>
                  <a:pt x="5791200" y="540097"/>
                </a:lnTo>
                <a:lnTo>
                  <a:pt x="5791200" y="609600"/>
                </a:lnTo>
                <a:lnTo>
                  <a:pt x="5791200" y="1219200"/>
                </a:lnTo>
                <a:lnTo>
                  <a:pt x="5181600" y="1219200"/>
                </a:lnTo>
                <a:lnTo>
                  <a:pt x="2895600" y="1219200"/>
                </a:ln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cubicBezTo>
                  <a:pt x="0" y="272927"/>
                  <a:pt x="272927" y="0"/>
                  <a:pt x="609600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13" dirty="0">
              <a:latin typeface="Sarabun" panose="00000500000000000000" pitchFamily="2" charset="-34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E9AEC2F-3C13-4135-B079-1B1F0B95A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E6EB0-D8A1-412B-ABEA-7A35604D9AC4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0BD097-BBE4-430A-A46D-E7A8B4585E1C}"/>
              </a:ext>
            </a:extLst>
          </p:cNvPr>
          <p:cNvSpPr txBox="1"/>
          <p:nvPr/>
        </p:nvSpPr>
        <p:spPr>
          <a:xfrm>
            <a:off x="2218299" y="1092814"/>
            <a:ext cx="410761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6000">
                <a:solidFill>
                  <a:schemeClr val="bg1"/>
                </a:solidFill>
                <a:latin typeface="PF BeauSans Pro Black" panose="02000503040000020004" pitchFamily="2" charset="0"/>
              </a:defRPr>
            </a:lvl1pPr>
          </a:lstStyle>
          <a:p>
            <a:r>
              <a:rPr lang="en-US" sz="4500" dirty="0">
                <a:latin typeface="Sarabun ExtraBold" panose="00000900000000000000" pitchFamily="2" charset="-34"/>
                <a:cs typeface="Sarabun ExtraBold" panose="00000900000000000000" pitchFamily="2" charset="-34"/>
              </a:rPr>
              <a:t>THAM LUẬN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896" b="40863"/>
          <a:stretch/>
        </p:blipFill>
        <p:spPr>
          <a:xfrm>
            <a:off x="7414396" y="4726016"/>
            <a:ext cx="1429567" cy="3962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281" y="105208"/>
            <a:ext cx="904743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 dirty="0" err="1">
                <a:solidFill>
                  <a:schemeClr val="accent1"/>
                </a:solidFill>
              </a:rPr>
              <a:t>Đại</a:t>
            </a:r>
            <a:r>
              <a:rPr lang="en-US" sz="2100" b="1" dirty="0">
                <a:solidFill>
                  <a:schemeClr val="accent1"/>
                </a:solidFill>
              </a:rPr>
              <a:t> </a:t>
            </a:r>
            <a:r>
              <a:rPr lang="en-US" sz="2100" b="1" dirty="0" err="1">
                <a:solidFill>
                  <a:schemeClr val="accent1"/>
                </a:solidFill>
              </a:rPr>
              <a:t>hội</a:t>
            </a:r>
            <a:r>
              <a:rPr lang="en-US" sz="2100" b="1" dirty="0">
                <a:solidFill>
                  <a:schemeClr val="accent1"/>
                </a:solidFill>
              </a:rPr>
              <a:t> </a:t>
            </a:r>
            <a:r>
              <a:rPr lang="en-US" sz="2100" b="1" dirty="0" err="1">
                <a:solidFill>
                  <a:schemeClr val="accent1"/>
                </a:solidFill>
              </a:rPr>
              <a:t>Đoàn</a:t>
            </a:r>
            <a:r>
              <a:rPr lang="en-US" sz="2100" b="1" dirty="0">
                <a:solidFill>
                  <a:schemeClr val="accent1"/>
                </a:solidFill>
              </a:rPr>
              <a:t> TNCS HCM </a:t>
            </a:r>
            <a:r>
              <a:rPr lang="en-US" sz="2100" b="1" dirty="0" err="1">
                <a:solidFill>
                  <a:schemeClr val="accent1"/>
                </a:solidFill>
              </a:rPr>
              <a:t>Tập</a:t>
            </a:r>
            <a:r>
              <a:rPr lang="en-US" sz="2100" b="1" dirty="0">
                <a:solidFill>
                  <a:schemeClr val="accent1"/>
                </a:solidFill>
              </a:rPr>
              <a:t> </a:t>
            </a:r>
            <a:r>
              <a:rPr lang="en-US" sz="2100" b="1" dirty="0" err="1">
                <a:solidFill>
                  <a:schemeClr val="accent1"/>
                </a:solidFill>
              </a:rPr>
              <a:t>đoàn</a:t>
            </a:r>
            <a:r>
              <a:rPr lang="en-US" sz="2100" b="1" dirty="0">
                <a:solidFill>
                  <a:schemeClr val="accent1"/>
                </a:solidFill>
              </a:rPr>
              <a:t> </a:t>
            </a:r>
            <a:r>
              <a:rPr lang="en-US" sz="2100" b="1" dirty="0" err="1">
                <a:solidFill>
                  <a:schemeClr val="accent1"/>
                </a:solidFill>
              </a:rPr>
              <a:t>Công</a:t>
            </a:r>
            <a:r>
              <a:rPr lang="en-US" sz="2100" b="1" dirty="0">
                <a:solidFill>
                  <a:schemeClr val="accent1"/>
                </a:solidFill>
              </a:rPr>
              <a:t> </a:t>
            </a:r>
            <a:r>
              <a:rPr lang="en-US" sz="2100" b="1" dirty="0" err="1">
                <a:solidFill>
                  <a:schemeClr val="accent1"/>
                </a:solidFill>
              </a:rPr>
              <a:t>nghiệp</a:t>
            </a:r>
            <a:r>
              <a:rPr lang="en-US" sz="2100" b="1" dirty="0">
                <a:solidFill>
                  <a:schemeClr val="accent1"/>
                </a:solidFill>
              </a:rPr>
              <a:t> </a:t>
            </a:r>
            <a:r>
              <a:rPr lang="en-US" sz="2100" b="1" dirty="0" err="1">
                <a:solidFill>
                  <a:schemeClr val="accent1"/>
                </a:solidFill>
              </a:rPr>
              <a:t>Viễn</a:t>
            </a:r>
            <a:r>
              <a:rPr lang="en-US" sz="2100" b="1" dirty="0">
                <a:solidFill>
                  <a:schemeClr val="accent1"/>
                </a:solidFill>
              </a:rPr>
              <a:t> </a:t>
            </a:r>
            <a:r>
              <a:rPr lang="en-US" sz="2100" b="1" dirty="0" err="1">
                <a:solidFill>
                  <a:schemeClr val="accent1"/>
                </a:solidFill>
              </a:rPr>
              <a:t>thông</a:t>
            </a:r>
            <a:r>
              <a:rPr lang="en-US" sz="2100" b="1" dirty="0">
                <a:solidFill>
                  <a:schemeClr val="accent1"/>
                </a:solidFill>
              </a:rPr>
              <a:t> </a:t>
            </a:r>
            <a:r>
              <a:rPr lang="en-US" sz="2100" b="1" dirty="0" err="1">
                <a:solidFill>
                  <a:schemeClr val="accent1"/>
                </a:solidFill>
              </a:rPr>
              <a:t>Quân</a:t>
            </a:r>
            <a:r>
              <a:rPr lang="en-US" sz="2100" b="1" dirty="0">
                <a:solidFill>
                  <a:schemeClr val="accent1"/>
                </a:solidFill>
              </a:rPr>
              <a:t> </a:t>
            </a:r>
            <a:r>
              <a:rPr lang="en-US" sz="2100" b="1" dirty="0" err="1">
                <a:solidFill>
                  <a:schemeClr val="accent1"/>
                </a:solidFill>
              </a:rPr>
              <a:t>đội</a:t>
            </a:r>
            <a:r>
              <a:rPr lang="en-US" sz="2100" b="1" dirty="0">
                <a:solidFill>
                  <a:schemeClr val="accent1"/>
                </a:solidFill>
              </a:rPr>
              <a:t> </a:t>
            </a:r>
            <a:r>
              <a:rPr lang="en-US" sz="2100" b="1" dirty="0" err="1">
                <a:solidFill>
                  <a:schemeClr val="accent1"/>
                </a:solidFill>
              </a:rPr>
              <a:t>lần</a:t>
            </a:r>
            <a:r>
              <a:rPr lang="en-US" sz="2100" b="1" dirty="0">
                <a:solidFill>
                  <a:schemeClr val="accent1"/>
                </a:solidFill>
              </a:rPr>
              <a:t> </a:t>
            </a:r>
            <a:r>
              <a:rPr lang="en-US" sz="2100" b="1" dirty="0" err="1">
                <a:solidFill>
                  <a:schemeClr val="accent1"/>
                </a:solidFill>
              </a:rPr>
              <a:t>thứ</a:t>
            </a:r>
            <a:r>
              <a:rPr lang="en-US" sz="2100" b="1" dirty="0">
                <a:solidFill>
                  <a:schemeClr val="accent1"/>
                </a:solidFill>
              </a:rPr>
              <a:t> VI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C208B8-F486-C148-BA23-AFA3DBD7CC3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00" t="14853" r="1148" b="34269"/>
          <a:stretch/>
        </p:blipFill>
        <p:spPr>
          <a:xfrm>
            <a:off x="6857" y="-21187"/>
            <a:ext cx="9143999" cy="5143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0BD097-BBE4-430A-A46D-E7A8B4585E1C}"/>
              </a:ext>
            </a:extLst>
          </p:cNvPr>
          <p:cNvSpPr txBox="1"/>
          <p:nvPr/>
        </p:nvSpPr>
        <p:spPr>
          <a:xfrm>
            <a:off x="1018539" y="1889348"/>
            <a:ext cx="7200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6000">
                <a:solidFill>
                  <a:schemeClr val="bg1"/>
                </a:solidFill>
                <a:latin typeface="PF BeauSans Pro Black" panose="02000503040000020004" pitchFamily="2" charset="0"/>
              </a:defRPr>
            </a:lvl1pPr>
          </a:lstStyle>
          <a:p>
            <a:r>
              <a:rPr lang="en-US" sz="2400" b="1" dirty="0" err="1">
                <a:latin typeface="FS PF BeauSans Pro"/>
                <a:cs typeface="Sarabun ExtraBold" panose="00000900000000000000" pitchFamily="2" charset="-34"/>
              </a:rPr>
              <a:t>Khóa</a:t>
            </a:r>
            <a:r>
              <a:rPr lang="en-US" sz="2400" b="1" dirty="0">
                <a:latin typeface="FS PF BeauSans Pro"/>
                <a:cs typeface="Sarabun ExtraBold" panose="00000900000000000000" pitchFamily="2" charset="-34"/>
              </a:rPr>
              <a:t> </a:t>
            </a:r>
            <a:r>
              <a:rPr lang="en-US" sz="2400" b="1" dirty="0" err="1">
                <a:latin typeface="FS PF BeauSans Pro"/>
                <a:cs typeface="Sarabun ExtraBold" panose="00000900000000000000" pitchFamily="2" charset="-34"/>
              </a:rPr>
              <a:t>học</a:t>
            </a:r>
            <a:r>
              <a:rPr lang="en-US" sz="2400" b="1" dirty="0">
                <a:latin typeface="FS PF BeauSans Pro"/>
                <a:cs typeface="Sarabun ExtraBold" panose="00000900000000000000" pitchFamily="2" charset="-34"/>
              </a:rPr>
              <a:t> </a:t>
            </a:r>
            <a:r>
              <a:rPr lang="en-US" sz="2400" b="1" dirty="0" err="1">
                <a:latin typeface="FS PF BeauSans Pro"/>
                <a:cs typeface="Sarabun ExtraBold" panose="00000900000000000000" pitchFamily="2" charset="-34"/>
              </a:rPr>
              <a:t>chuyên</a:t>
            </a:r>
            <a:r>
              <a:rPr lang="en-US" sz="2400" b="1" dirty="0">
                <a:latin typeface="FS PF BeauSans Pro"/>
                <a:cs typeface="Sarabun ExtraBold" panose="00000900000000000000" pitchFamily="2" charset="-34"/>
              </a:rPr>
              <a:t> </a:t>
            </a:r>
            <a:r>
              <a:rPr lang="en-US" sz="2400" b="1" dirty="0" err="1">
                <a:latin typeface="FS PF BeauSans Pro"/>
                <a:cs typeface="Sarabun ExtraBold" panose="00000900000000000000" pitchFamily="2" charset="-34"/>
              </a:rPr>
              <a:t>đề</a:t>
            </a:r>
            <a:endParaRPr lang="en-US" sz="2400" b="1" dirty="0">
              <a:latin typeface="FS PF BeauSans Pro"/>
              <a:cs typeface="Sarabun ExtraBold" panose="00000900000000000000" pitchFamily="2" charset="-34"/>
            </a:endParaRPr>
          </a:p>
          <a:p>
            <a:r>
              <a:rPr lang="en-US" sz="3600" b="1" dirty="0" err="1">
                <a:latin typeface="FS PF BeauSans Pro"/>
                <a:cs typeface="Sarabun ExtraBold" panose="00000900000000000000" pitchFamily="2" charset="-34"/>
              </a:rPr>
              <a:t>Phát</a:t>
            </a:r>
            <a:r>
              <a:rPr lang="en-US" sz="3600" b="1" dirty="0">
                <a:latin typeface="FS PF BeauSans Pro"/>
                <a:cs typeface="Sarabun ExtraBold" panose="00000900000000000000" pitchFamily="2" charset="-34"/>
              </a:rPr>
              <a:t> </a:t>
            </a:r>
            <a:r>
              <a:rPr lang="en-US" sz="3600" b="1" dirty="0" err="1">
                <a:latin typeface="FS PF BeauSans Pro"/>
                <a:cs typeface="Sarabun ExtraBold" panose="00000900000000000000" pitchFamily="2" charset="-34"/>
              </a:rPr>
              <a:t>triển</a:t>
            </a:r>
            <a:r>
              <a:rPr lang="en-US" sz="3600" b="1" dirty="0">
                <a:latin typeface="FS PF BeauSans Pro"/>
                <a:cs typeface="Sarabun ExtraBold" panose="00000900000000000000" pitchFamily="2" charset="-34"/>
              </a:rPr>
              <a:t> </a:t>
            </a:r>
            <a:r>
              <a:rPr lang="en-US" sz="3600" b="1" dirty="0" err="1">
                <a:latin typeface="FS PF BeauSans Pro"/>
                <a:cs typeface="Sarabun ExtraBold" panose="00000900000000000000" pitchFamily="2" charset="-34"/>
              </a:rPr>
              <a:t>giao</a:t>
            </a:r>
            <a:r>
              <a:rPr lang="en-US" sz="3600" b="1" dirty="0">
                <a:latin typeface="FS PF BeauSans Pro"/>
                <a:cs typeface="Sarabun ExtraBold" panose="00000900000000000000" pitchFamily="2" charset="-34"/>
              </a:rPr>
              <a:t> </a:t>
            </a:r>
            <a:r>
              <a:rPr lang="en-US" sz="3600" b="1" dirty="0" err="1">
                <a:latin typeface="FS PF BeauSans Pro"/>
                <a:cs typeface="Sarabun ExtraBold" panose="00000900000000000000" pitchFamily="2" charset="-34"/>
              </a:rPr>
              <a:t>thức</a:t>
            </a:r>
            <a:r>
              <a:rPr lang="en-US" sz="3600" b="1" dirty="0">
                <a:latin typeface="FS PF BeauSans Pro"/>
                <a:cs typeface="Sarabun ExtraBold" panose="00000900000000000000" pitchFamily="2" charset="-34"/>
              </a:rPr>
              <a:t> </a:t>
            </a:r>
            <a:r>
              <a:rPr lang="en-US" sz="3600" b="1" dirty="0" err="1">
                <a:latin typeface="FS PF BeauSans Pro"/>
                <a:cs typeface="Sarabun ExtraBold" panose="00000900000000000000" pitchFamily="2" charset="-34"/>
              </a:rPr>
              <a:t>mạng</a:t>
            </a:r>
            <a:r>
              <a:rPr lang="en-US" sz="3600" b="1" dirty="0">
                <a:latin typeface="FS PF BeauSans Pro"/>
                <a:cs typeface="Sarabun ExtraBold" panose="00000900000000000000" pitchFamily="2" charset="-34"/>
              </a:rPr>
              <a:t> 5G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2A302B-922D-4ACF-B028-8D48F3C1819A}"/>
              </a:ext>
            </a:extLst>
          </p:cNvPr>
          <p:cNvSpPr txBox="1"/>
          <p:nvPr/>
        </p:nvSpPr>
        <p:spPr>
          <a:xfrm>
            <a:off x="285749" y="3402523"/>
            <a:ext cx="8686800" cy="1408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250" dirty="0">
              <a:solidFill>
                <a:schemeClr val="bg1"/>
              </a:solidFill>
              <a:latin typeface="FS PF BeauSans Pro"/>
              <a:cs typeface="Sarabun SemiBold" panose="00000700000000000000" pitchFamily="2" charset="-34"/>
            </a:endParaRPr>
          </a:p>
          <a:p>
            <a:pPr algn="ctr"/>
            <a:endParaRPr lang="en-US" sz="2100" dirty="0">
              <a:solidFill>
                <a:schemeClr val="bg1"/>
              </a:solidFill>
              <a:latin typeface="FS PF BeauSans Pro"/>
              <a:cs typeface="Sarabun SemiBold" panose="00000700000000000000" pitchFamily="2" charset="-34"/>
            </a:endParaRPr>
          </a:p>
          <a:p>
            <a:pPr algn="ctr"/>
            <a:endParaRPr lang="en-US" sz="2100" dirty="0">
              <a:solidFill>
                <a:schemeClr val="bg1"/>
              </a:solidFill>
              <a:latin typeface="FS PF BeauSans Pro"/>
              <a:cs typeface="Sarabun SemiBold" panose="00000700000000000000" pitchFamily="2" charset="-34"/>
            </a:endParaRPr>
          </a:p>
          <a:p>
            <a:pPr algn="ctr"/>
            <a:r>
              <a:rPr lang="en-US" sz="2100" dirty="0">
                <a:solidFill>
                  <a:schemeClr val="bg1"/>
                </a:solidFill>
                <a:latin typeface="FS PF BeauSans Pro"/>
                <a:cs typeface="Sarabun SemiBold" panose="00000700000000000000" pitchFamily="2" charset="-34"/>
              </a:rPr>
              <a:t>Hà </a:t>
            </a:r>
            <a:r>
              <a:rPr lang="en-US" sz="2100" dirty="0" err="1">
                <a:solidFill>
                  <a:schemeClr val="bg1"/>
                </a:solidFill>
                <a:latin typeface="FS PF BeauSans Pro"/>
                <a:cs typeface="Sarabun SemiBold" panose="00000700000000000000" pitchFamily="2" charset="-34"/>
              </a:rPr>
              <a:t>Nội</a:t>
            </a:r>
            <a:r>
              <a:rPr lang="en-US" sz="2100" dirty="0">
                <a:solidFill>
                  <a:schemeClr val="bg1"/>
                </a:solidFill>
                <a:latin typeface="FS PF BeauSans Pro"/>
                <a:cs typeface="Sarabun SemiBold" panose="00000700000000000000" pitchFamily="2" charset="-34"/>
              </a:rPr>
              <a:t> 08/2024</a:t>
            </a:r>
            <a:endParaRPr lang="en-US" sz="1800" dirty="0">
              <a:solidFill>
                <a:schemeClr val="bg1"/>
              </a:solidFill>
              <a:latin typeface="FS PF BeauSans Pro"/>
              <a:cs typeface="Sarabun SemiBold" panose="00000700000000000000" pitchFamily="2" charset="-34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F2C2DA1-53C6-3B7E-0C88-DDB28E91F7CE}"/>
              </a:ext>
            </a:extLst>
          </p:cNvPr>
          <p:cNvGrpSpPr/>
          <p:nvPr/>
        </p:nvGrpSpPr>
        <p:grpSpPr>
          <a:xfrm>
            <a:off x="6857" y="49417"/>
            <a:ext cx="2512823" cy="778938"/>
            <a:chOff x="7066968" y="1024658"/>
            <a:chExt cx="2613767" cy="97558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760334D-3D4D-F704-A970-B0D229B2F6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267" b="30446"/>
            <a:stretch/>
          </p:blipFill>
          <p:spPr>
            <a:xfrm>
              <a:off x="7066968" y="1024658"/>
              <a:ext cx="2613767" cy="63362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513D4A0-8525-DEDB-71B0-DA9E9ABE06F9}"/>
                </a:ext>
              </a:extLst>
            </p:cNvPr>
            <p:cNvSpPr txBox="1"/>
            <p:nvPr/>
          </p:nvSpPr>
          <p:spPr>
            <a:xfrm>
              <a:off x="7870157" y="1477020"/>
              <a:ext cx="16866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FS Magistral Medium" panose="020B0704030204080304" pitchFamily="34" charset="0"/>
                  <a:ea typeface="Roboto" panose="02000000000000000000" pitchFamily="2" charset="0"/>
                  <a:cs typeface="FS PF BeauSans Pro" panose="020B0604020202020204" charset="0"/>
                </a:rPr>
                <a:t>high tech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DA858BC4-1956-AA5E-F7D6-2116516E574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650" y="84623"/>
            <a:ext cx="1852209" cy="90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391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1A7C8-DC11-D4BE-FC2B-5D834E5C1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5562"/>
            <a:ext cx="7886700" cy="569436"/>
          </a:xfrm>
        </p:spPr>
        <p:txBody>
          <a:bodyPr/>
          <a:lstStyle/>
          <a:p>
            <a:r>
              <a:rPr lang="en-US" dirty="0"/>
              <a:t>Course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6D7426-D661-A19D-6E39-6663D6533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610" y="914076"/>
            <a:ext cx="3741760" cy="3658189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3CDB6D4E-F581-3569-2EF7-CC59A14A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3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753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Summary – Session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600" dirty="0">
                <a:solidFill>
                  <a:srgbClr val="0070C0"/>
                </a:solidFill>
              </a:rPr>
              <a:t>I.   5G Introduction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>
                <a:solidFill>
                  <a:srgbClr val="0070C0"/>
                </a:solidFill>
              </a:rPr>
              <a:t>II.  5G Protocol Stack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628649" y="2057132"/>
            <a:ext cx="4573135" cy="343198"/>
          </a:xfrm>
        </p:spPr>
        <p:txBody>
          <a:bodyPr/>
          <a:lstStyle/>
          <a:p>
            <a:r>
              <a:rPr lang="en-US" sz="1600" dirty="0">
                <a:solidFill>
                  <a:srgbClr val="0070C0"/>
                </a:solidFill>
              </a:rPr>
              <a:t>III. Paging call flow and feature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37E252C3-D938-C1A0-F51A-861EC45EE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4</a:t>
            </a:fld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A5E6F66-DFF4-6343-4234-689EB36BE790}"/>
              </a:ext>
            </a:extLst>
          </p:cNvPr>
          <p:cNvSpPr txBox="1">
            <a:spLocks/>
          </p:cNvSpPr>
          <p:nvPr/>
        </p:nvSpPr>
        <p:spPr>
          <a:xfrm>
            <a:off x="628649" y="2439221"/>
            <a:ext cx="4573135" cy="343198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350" kern="1200" dirty="0" smtClean="0">
                <a:solidFill>
                  <a:srgbClr val="44494D"/>
                </a:solidFill>
                <a:latin typeface="FS PF BeauSans Pro" panose="02000500000000020004" pitchFamily="2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70C0"/>
                </a:solidFill>
              </a:rPr>
              <a:t>IV. Mini-project</a:t>
            </a:r>
          </a:p>
        </p:txBody>
      </p:sp>
    </p:spTree>
    <p:extLst>
      <p:ext uri="{BB962C8B-B14F-4D97-AF65-F5344CB8AC3E}">
        <p14:creationId xmlns:p14="http://schemas.microsoft.com/office/powerpoint/2010/main" val="1760976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203441" cy="4604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181" y="1188972"/>
            <a:ext cx="3463159" cy="22209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00491" y="2068628"/>
            <a:ext cx="2549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FS PF BeauSans Pro XThin" panose="02000506030000020004" pitchFamily="2" charset="0"/>
              </a:rPr>
              <a:t>I. 5G Introduction</a:t>
            </a:r>
            <a:endParaRPr lang="en-US" sz="2800" dirty="0">
              <a:solidFill>
                <a:schemeClr val="bg1"/>
              </a:solidFill>
              <a:latin typeface="FS PF BeauSans Pro Light" panose="02000500000000020004" pitchFamily="2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07CB375-103F-7A9E-D8B0-BF32B2CD4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5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090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I. 5G 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1. 5G	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2. ITU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3. 3GPP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4. Network Architecture Overview</a:t>
            </a: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636327" y="2744534"/>
            <a:ext cx="3644419" cy="343198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350" kern="1200" dirty="0" smtClean="0">
                <a:solidFill>
                  <a:srgbClr val="B5B4B4"/>
                </a:solidFill>
                <a:latin typeface="FS PF BeauSans Pro" panose="02000500000000020004" pitchFamily="2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</a:rPr>
              <a:t>5. 4G/5G Non-standalone Architecture (NSA)</a:t>
            </a:r>
          </a:p>
        </p:txBody>
      </p:sp>
      <p:sp>
        <p:nvSpPr>
          <p:cNvPr id="12" name="Text Placeholder 6"/>
          <p:cNvSpPr txBox="1">
            <a:spLocks/>
          </p:cNvSpPr>
          <p:nvPr/>
        </p:nvSpPr>
        <p:spPr>
          <a:xfrm>
            <a:off x="636328" y="3094791"/>
            <a:ext cx="3505200" cy="343198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350" kern="1200" baseline="0" dirty="0" smtClean="0">
                <a:solidFill>
                  <a:srgbClr val="B5B4B4"/>
                </a:solidFill>
                <a:latin typeface="FS PF BeauSans Pro" panose="02000500000000020004" pitchFamily="2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</a:rPr>
              <a:t>6. 5G Standalone Architecture (SA)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9" name="Text Placeholder 6"/>
          <p:cNvSpPr txBox="1">
            <a:spLocks/>
          </p:cNvSpPr>
          <p:nvPr/>
        </p:nvSpPr>
        <p:spPr>
          <a:xfrm>
            <a:off x="636328" y="3463642"/>
            <a:ext cx="3505200" cy="343198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350" kern="1200" baseline="0" dirty="0" smtClean="0">
                <a:solidFill>
                  <a:srgbClr val="B5B4B4"/>
                </a:solidFill>
                <a:latin typeface="FS PF BeauSans Pro" panose="02000500000000020004" pitchFamily="2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</a:rPr>
              <a:t>7. 5G in Vietnam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7ACDE0BA-E279-4690-4C12-32553108F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6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791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5G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28649" y="1114913"/>
            <a:ext cx="2579007" cy="303387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Object</a:t>
            </a:r>
          </a:p>
          <a:p>
            <a:pPr marL="800100" lvl="1" indent="-285750"/>
            <a:r>
              <a:rPr lang="en-US" sz="1100" dirty="0"/>
              <a:t>EMBB</a:t>
            </a: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URLLC</a:t>
            </a:r>
          </a:p>
          <a:p>
            <a:pPr marL="800100" lvl="1" indent="-285750"/>
            <a:r>
              <a:rPr lang="en-US" sz="1100" dirty="0"/>
              <a:t>Mass type connections</a:t>
            </a:r>
            <a:endParaRPr lang="en-US" sz="11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Network Elements</a:t>
            </a: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UE, </a:t>
            </a: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Radio Access Network</a:t>
            </a: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Transport Network</a:t>
            </a: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Core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Key Technology ?</a:t>
            </a:r>
          </a:p>
          <a:p>
            <a:pPr marL="800100" lvl="1" indent="-285750"/>
            <a:r>
              <a:rPr lang="en-US" sz="1100" dirty="0"/>
              <a:t>Massive MIMO</a:t>
            </a: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Beamforming</a:t>
            </a:r>
          </a:p>
          <a:p>
            <a:pPr marL="800100" lvl="1" indent="-285750"/>
            <a:r>
              <a:rPr lang="en-US" sz="1100" dirty="0"/>
              <a:t>Network slicing</a:t>
            </a: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Network flexibility – Virtualization</a:t>
            </a:r>
          </a:p>
          <a:p>
            <a:pPr marL="800100" lvl="1" indent="-285750"/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899" y="2326413"/>
            <a:ext cx="4020101" cy="2215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536" y="1114913"/>
            <a:ext cx="2806934" cy="2319021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CA5CAC3A-B272-095F-5A3D-6CA724241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7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930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ITU – International Telecommunication Union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28650" y="1340771"/>
            <a:ext cx="4101232" cy="125770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ITU</a:t>
            </a:r>
          </a:p>
          <a:p>
            <a:pPr marL="800100" lvl="1" indent="-285750"/>
            <a:r>
              <a:rPr lang="en-US" sz="1100" dirty="0"/>
              <a:t>Founded 1985</a:t>
            </a:r>
          </a:p>
          <a:p>
            <a:pPr marL="800100" lvl="1" indent="-285750"/>
            <a:r>
              <a:rPr lang="en-US" sz="1100" dirty="0"/>
              <a:t>Agency of United Nation (UN)</a:t>
            </a: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193 member states + 900 companies, universities and </a:t>
            </a:r>
            <a:r>
              <a:rPr lang="en-US" sz="1100" dirty="0"/>
              <a:t>organization</a:t>
            </a: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Coordinates the global use of the radio spectrum and defines requirements for next-generation mobile communication technologies.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3 main sectors</a:t>
            </a:r>
          </a:p>
          <a:p>
            <a:pPr marL="800100" lvl="1" indent="-285750"/>
            <a:r>
              <a:rPr lang="en-US" sz="1100" dirty="0"/>
              <a:t>ITU-R Radio Communication</a:t>
            </a: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ITU-T Standardization (called Recommendation)</a:t>
            </a:r>
          </a:p>
          <a:p>
            <a:pPr marL="800100" lvl="1" indent="-285750"/>
            <a:r>
              <a:rPr lang="en-US" sz="1100" dirty="0"/>
              <a:t>ITU-D Development</a:t>
            </a:r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1026" name="Picture 2" descr="IT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2465" y="1268016"/>
            <a:ext cx="962025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974558" y="2350603"/>
            <a:ext cx="3089307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  <a:latin typeface="DroidSansBold"/>
              </a:rPr>
              <a:t>Committed to connecting the world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3191" y="3087411"/>
            <a:ext cx="4572000" cy="8079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S PF BeauSans Pro" panose="02000500000000020004" pitchFamily="2" charset="0"/>
              </a:rPr>
              <a:t>Output document</a:t>
            </a:r>
          </a:p>
          <a:p>
            <a:pPr marL="80010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FS PF BeauSans Pro" panose="02000500000000020004" pitchFamily="2" charset="0"/>
              </a:rPr>
              <a:t>IMT-2000: define “</a:t>
            </a:r>
            <a:r>
              <a:rPr lang="en-US" sz="1100" dirty="0">
                <a:solidFill>
                  <a:schemeClr val="accent3">
                    <a:lumMod val="60000"/>
                    <a:lumOff val="40000"/>
                  </a:schemeClr>
                </a:solidFill>
                <a:latin typeface="FS PF BeauSans Pro" panose="02000500000000020004" pitchFamily="2" charset="0"/>
              </a:rPr>
              <a:t>3G</a:t>
            </a:r>
            <a:r>
              <a:rPr lang="en-US" sz="1100" dirty="0">
                <a:latin typeface="FS PF BeauSans Pro" panose="02000500000000020004" pitchFamily="2" charset="0"/>
              </a:rPr>
              <a:t>”; year of release: 2000</a:t>
            </a:r>
          </a:p>
          <a:p>
            <a:pPr marL="80010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FS PF BeauSans Pro" panose="02000500000000020004" pitchFamily="2" charset="0"/>
              </a:rPr>
              <a:t>IMT-Advanced: define “</a:t>
            </a:r>
            <a:r>
              <a:rPr lang="en-US" sz="1100" dirty="0">
                <a:solidFill>
                  <a:schemeClr val="accent3">
                    <a:lumMod val="60000"/>
                    <a:lumOff val="40000"/>
                  </a:schemeClr>
                </a:solidFill>
                <a:latin typeface="FS PF BeauSans Pro" panose="02000500000000020004" pitchFamily="2" charset="0"/>
              </a:rPr>
              <a:t>4G</a:t>
            </a:r>
            <a:r>
              <a:rPr lang="en-US" sz="1100" dirty="0">
                <a:latin typeface="FS PF BeauSans Pro" panose="02000500000000020004" pitchFamily="2" charset="0"/>
              </a:rPr>
              <a:t>”; year of release: 2010</a:t>
            </a:r>
          </a:p>
          <a:p>
            <a:pPr marL="80010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FS PF BeauSans Pro" panose="02000500000000020004" pitchFamily="2" charset="0"/>
              </a:rPr>
              <a:t>IMT-2020</a:t>
            </a:r>
            <a:r>
              <a:rPr lang="en-US" sz="1100" dirty="0"/>
              <a:t>: </a:t>
            </a:r>
            <a:r>
              <a:rPr lang="en-US" sz="1100" dirty="0">
                <a:latin typeface="FS PF BeauSans Pro" panose="02000500000000020004" pitchFamily="2" charset="0"/>
              </a:rPr>
              <a:t>define “</a:t>
            </a:r>
            <a:r>
              <a:rPr lang="en-US" sz="1100" dirty="0">
                <a:solidFill>
                  <a:schemeClr val="accent3">
                    <a:lumMod val="60000"/>
                    <a:lumOff val="40000"/>
                  </a:schemeClr>
                </a:solidFill>
                <a:latin typeface="FS PF BeauSans Pro" panose="02000500000000020004" pitchFamily="2" charset="0"/>
              </a:rPr>
              <a:t>5G</a:t>
            </a:r>
            <a:r>
              <a:rPr lang="en-US" sz="1100" dirty="0">
                <a:latin typeface="FS PF BeauSans Pro" panose="02000500000000020004" pitchFamily="2" charset="0"/>
              </a:rPr>
              <a:t>”; year of release 2020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7DAA19D1-E17A-26AD-2D65-306CCC870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8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156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3GPP – 3</a:t>
            </a:r>
            <a:r>
              <a:rPr lang="en-US" baseline="30000" dirty="0"/>
              <a:t>rd</a:t>
            </a:r>
            <a:r>
              <a:rPr lang="en-US" dirty="0"/>
              <a:t> Generation Partnership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28650" y="1340771"/>
            <a:ext cx="3505200" cy="125770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3GPP</a:t>
            </a:r>
          </a:p>
          <a:p>
            <a:pPr marL="800100" lvl="1" indent="-285750"/>
            <a:r>
              <a:rPr lang="en-US" sz="1100" dirty="0"/>
              <a:t>1998</a:t>
            </a:r>
          </a:p>
          <a:p>
            <a:pPr marL="800100" lvl="1" indent="-285750"/>
            <a:r>
              <a:rPr lang="en-US" sz="1100" dirty="0"/>
              <a:t>Is an standard organization</a:t>
            </a:r>
          </a:p>
          <a:p>
            <a:pPr marL="800100" lvl="1" indent="-285750"/>
            <a:r>
              <a:rPr lang="en-US" sz="1100" dirty="0"/>
              <a:t>From 7 regional organization partners </a:t>
            </a:r>
            <a:r>
              <a:rPr lang="fi-FI" sz="1100" dirty="0"/>
              <a:t>(ARIB, ATIS, CCSA, ETSI, TSDSI, TTA, TTC) + 700 companies</a:t>
            </a:r>
            <a:endParaRPr lang="en-US" sz="1100" dirty="0"/>
          </a:p>
          <a:p>
            <a:pPr marL="800100" lvl="1" indent="-285750"/>
            <a:r>
              <a:rPr lang="en-US" sz="1100" dirty="0"/>
              <a:t>Create &amp; maintain technical standard for global mobile communication technologies as GSM, UMTS, LTE, NR </a:t>
            </a:r>
            <a:r>
              <a:rPr lang="en-US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3 main group</a:t>
            </a:r>
          </a:p>
          <a:p>
            <a:pPr marL="800100" lvl="1" indent="-285750"/>
            <a:r>
              <a:rPr lang="en-US" sz="1100" dirty="0"/>
              <a:t>Radio Access Network</a:t>
            </a: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Service &amp; System Aspects</a:t>
            </a:r>
          </a:p>
          <a:p>
            <a:pPr marL="800100" lvl="1" indent="-285750"/>
            <a:r>
              <a:rPr lang="en-US" sz="1100" dirty="0"/>
              <a:t>Core Network &amp; Terminal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83191" y="3087411"/>
            <a:ext cx="4572000" cy="8079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S PF BeauSans Pro" panose="02000500000000020004" pitchFamily="2" charset="0"/>
              </a:rPr>
              <a:t>Output document</a:t>
            </a:r>
          </a:p>
          <a:p>
            <a:pPr marL="80010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FS PF BeauSans Pro" panose="02000500000000020004" pitchFamily="2" charset="0"/>
              </a:rPr>
              <a:t>Release 99: “</a:t>
            </a:r>
            <a:r>
              <a:rPr lang="en-US" sz="1100" dirty="0">
                <a:solidFill>
                  <a:schemeClr val="accent3">
                    <a:lumMod val="60000"/>
                    <a:lumOff val="40000"/>
                  </a:schemeClr>
                </a:solidFill>
                <a:latin typeface="FS PF BeauSans Pro" panose="02000500000000020004" pitchFamily="2" charset="0"/>
              </a:rPr>
              <a:t>3G</a:t>
            </a:r>
            <a:r>
              <a:rPr lang="en-US" sz="1100" dirty="0">
                <a:latin typeface="FS PF BeauSans Pro" panose="02000500000000020004" pitchFamily="2" charset="0"/>
              </a:rPr>
              <a:t>” UMTS standard </a:t>
            </a:r>
          </a:p>
          <a:p>
            <a:pPr marL="80010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FS PF BeauSans Pro" panose="02000500000000020004" pitchFamily="2" charset="0"/>
              </a:rPr>
              <a:t>Release 8: “first </a:t>
            </a:r>
            <a:r>
              <a:rPr lang="en-US" sz="1100" dirty="0">
                <a:solidFill>
                  <a:schemeClr val="accent3">
                    <a:lumMod val="60000"/>
                    <a:lumOff val="40000"/>
                  </a:schemeClr>
                </a:solidFill>
                <a:latin typeface="FS PF BeauSans Pro" panose="02000500000000020004" pitchFamily="2" charset="0"/>
              </a:rPr>
              <a:t>4G</a:t>
            </a:r>
            <a:r>
              <a:rPr lang="en-US" sz="1100" dirty="0">
                <a:latin typeface="FS PF BeauSans Pro" panose="02000500000000020004" pitchFamily="2" charset="0"/>
              </a:rPr>
              <a:t>” LTE standard; year of release: 2008</a:t>
            </a:r>
          </a:p>
          <a:p>
            <a:pPr marL="80010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FS PF BeauSans Pro" panose="02000500000000020004" pitchFamily="2" charset="0"/>
              </a:rPr>
              <a:t>Release 15: “first </a:t>
            </a:r>
            <a:r>
              <a:rPr lang="en-US" sz="1100" dirty="0">
                <a:solidFill>
                  <a:schemeClr val="accent3">
                    <a:lumMod val="60000"/>
                    <a:lumOff val="40000"/>
                  </a:schemeClr>
                </a:solidFill>
                <a:latin typeface="FS PF BeauSans Pro" panose="02000500000000020004" pitchFamily="2" charset="0"/>
              </a:rPr>
              <a:t>5G</a:t>
            </a:r>
            <a:r>
              <a:rPr lang="en-US" sz="1100" dirty="0">
                <a:latin typeface="FS PF BeauSans Pro" panose="02000500000000020004" pitchFamily="2" charset="0"/>
              </a:rPr>
              <a:t>”; NR standard; year of release: 2018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964" y="1340771"/>
            <a:ext cx="2000055" cy="1079817"/>
          </a:xfrm>
          <a:prstGeom prst="rect">
            <a:avLst/>
          </a:prstGeom>
        </p:spPr>
      </p:pic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C04700B-9848-B09C-7B53-7FB8F9337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9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311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4G/5G Network Architecture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28650" y="1340771"/>
            <a:ext cx="3505200" cy="125770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4G LTE option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4G/5G NSA option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5G SA option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060343" y="3869006"/>
            <a:ext cx="14494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i="1" dirty="0">
                <a:solidFill>
                  <a:schemeClr val="bg1">
                    <a:lumMod val="75000"/>
                  </a:schemeClr>
                </a:solidFill>
              </a:rPr>
              <a:t>https://www.digi.com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030" y="1450403"/>
            <a:ext cx="6189930" cy="3023900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1DD58A61-0958-671D-684A-01B736D20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10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002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Non-standalone Architecture (NSA)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28650" y="1340771"/>
            <a:ext cx="3505200" cy="125770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NSA option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Radio access network is composed of</a:t>
            </a:r>
          </a:p>
          <a:p>
            <a:pPr marL="800100" lvl="1" indent="-285750"/>
            <a:r>
              <a:rPr lang="en-US" sz="1100" dirty="0"/>
              <a:t>4G eNodeB as master node</a:t>
            </a: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5G gNodeB as secondary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Core is 4G 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Advance</a:t>
            </a:r>
          </a:p>
          <a:p>
            <a:pPr marL="800100" lvl="1" indent="-285750"/>
            <a:r>
              <a:rPr lang="en-US" sz="1100" dirty="0"/>
              <a:t>Quickly deploy</a:t>
            </a: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Add only 5G gNodeB</a:t>
            </a:r>
          </a:p>
          <a:p>
            <a:pPr marL="800100" lvl="1" indent="-285750"/>
            <a:r>
              <a:rPr lang="en-US" sz="1100" dirty="0"/>
              <a:t>Increase throughput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Dis-advance</a:t>
            </a:r>
          </a:p>
          <a:p>
            <a:pPr marL="800100" lvl="1" indent="-285750"/>
            <a:r>
              <a:rPr lang="en-US" sz="1100" dirty="0"/>
              <a:t>Adapt only MBB</a:t>
            </a:r>
          </a:p>
          <a:p>
            <a:pPr marL="800100" lvl="1" indent="-285750"/>
            <a:r>
              <a:rPr lang="en-US" sz="1100" dirty="0"/>
              <a:t>Complex operation</a:t>
            </a:r>
            <a:endParaRPr lang="en-US" sz="1100" dirty="0">
              <a:solidFill>
                <a:schemeClr val="tx1"/>
              </a:solidFill>
            </a:endParaRPr>
          </a:p>
          <a:p>
            <a:pPr marL="800100" lvl="1" indent="-28575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310" y="1408377"/>
            <a:ext cx="4768623" cy="3071195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86C9DF6-63E3-619F-04FC-61835386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11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513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5G Standalone Architecture (SA)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28650" y="1340771"/>
            <a:ext cx="3505200" cy="125770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SA option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Radio Access Network</a:t>
            </a:r>
          </a:p>
          <a:p>
            <a:pPr marL="800100" lvl="1" indent="-285750"/>
            <a:r>
              <a:rPr lang="en-US" sz="1100" dirty="0"/>
              <a:t>5G gNodeB</a:t>
            </a:r>
            <a:endParaRPr lang="en-US" sz="11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Core Network: </a:t>
            </a:r>
          </a:p>
          <a:p>
            <a:pPr marL="800100" lvl="1" indent="-285750"/>
            <a:r>
              <a:rPr lang="en-US" sz="1100" dirty="0"/>
              <a:t>5G Core</a:t>
            </a:r>
            <a:endParaRPr lang="en-US" sz="11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Advance</a:t>
            </a:r>
          </a:p>
          <a:p>
            <a:pPr marL="800100" lvl="1" indent="-285750"/>
            <a:r>
              <a:rPr lang="en-US" sz="1100" dirty="0"/>
              <a:t>Full 5G technology to achieve: MBB, ULLC, Mass types of connection</a:t>
            </a:r>
          </a:p>
          <a:p>
            <a:pPr marL="800100" lvl="1" indent="-285750"/>
            <a:r>
              <a:rPr lang="en-US" sz="1100" dirty="0"/>
              <a:t>Simple operation: </a:t>
            </a:r>
          </a:p>
          <a:p>
            <a:pPr marL="800100" lvl="1" indent="-28575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282" y="1163470"/>
            <a:ext cx="4389807" cy="2870007"/>
          </a:xfrm>
          <a:prstGeom prst="rect">
            <a:avLst/>
          </a:prstGeom>
        </p:spPr>
      </p:pic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ACF5A47-0E81-A8A0-04FC-0564DDB1B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12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906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28650" y="1340771"/>
            <a:ext cx="3505200" cy="125770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</a:rPr>
              <a:t>Why 5G throughput is higher than 4G throughput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3"/>
              </a:solidFill>
            </a:endParaRPr>
          </a:p>
          <a:p>
            <a:endParaRPr lang="en-US" dirty="0">
              <a:solidFill>
                <a:schemeClr val="accent3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</a:rPr>
              <a:t>Calculation the peak 5G throughput</a:t>
            </a:r>
          </a:p>
          <a:p>
            <a:pPr lvl="1" indent="0">
              <a:buNone/>
            </a:pPr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282" y="1163470"/>
            <a:ext cx="4389807" cy="2870007"/>
          </a:xfrm>
          <a:prstGeom prst="rect">
            <a:avLst/>
          </a:prstGeom>
        </p:spPr>
      </p:pic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1FC778E-9D42-1DBF-44EE-3C83148C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13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694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5G in Vietnam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50630" y="1314047"/>
            <a:ext cx="4254924" cy="125770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Viettel 5G trail spectrum license : </a:t>
            </a:r>
          </a:p>
          <a:p>
            <a:pPr marL="800100" lvl="1" indent="-285750"/>
            <a:r>
              <a:rPr lang="en-US" dirty="0"/>
              <a:t>Deploy 5g service 63/63 provinces</a:t>
            </a:r>
          </a:p>
          <a:p>
            <a:pPr marL="800100" lvl="1" indent="-285750"/>
            <a:r>
              <a:rPr lang="en-US" dirty="0"/>
              <a:t>NSA mode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5G spectrum license for 15 year</a:t>
            </a:r>
          </a:p>
          <a:p>
            <a:pPr marL="800100" lvl="1" indent="-285750"/>
            <a:r>
              <a:rPr lang="en-US" dirty="0"/>
              <a:t>Viettel: 2500-2600 MHz ; March 2024</a:t>
            </a:r>
          </a:p>
          <a:p>
            <a:pPr marL="800100" lvl="1" indent="-285750"/>
            <a:r>
              <a:rPr lang="en-US" dirty="0"/>
              <a:t>VNPT: </a:t>
            </a:r>
            <a:r>
              <a:rPr lang="en-US" sz="1200" dirty="0"/>
              <a:t>3700-3800</a:t>
            </a:r>
            <a:r>
              <a:rPr lang="en-US" dirty="0"/>
              <a:t>; April 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Big 4G/5G vendor </a:t>
            </a:r>
          </a:p>
          <a:p>
            <a:pPr marL="800100" lvl="1" indent="-285750"/>
            <a:r>
              <a:rPr lang="en-US" dirty="0"/>
              <a:t>Ericsson</a:t>
            </a:r>
          </a:p>
          <a:p>
            <a:pPr marL="800100" lvl="1" indent="-285750"/>
            <a:r>
              <a:rPr lang="en-US" dirty="0"/>
              <a:t>Nokia</a:t>
            </a:r>
          </a:p>
          <a:p>
            <a:pPr marL="800100" lvl="1" indent="-285750"/>
            <a:r>
              <a:rPr lang="en-US" dirty="0"/>
              <a:t>VHT ( Viettel High Tech)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VHT exported 5G Private Network to India in August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3"/>
              </a:solidFill>
            </a:endParaRPr>
          </a:p>
          <a:p>
            <a:endParaRPr lang="en-US" dirty="0">
              <a:solidFill>
                <a:schemeClr val="accent3"/>
              </a:solidFill>
            </a:endParaRPr>
          </a:p>
          <a:p>
            <a:pPr lvl="1" indent="0">
              <a:buNone/>
            </a:pPr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18EC7A-B1F5-9AE2-69C5-5D6BCA713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747" y="783669"/>
            <a:ext cx="3522112" cy="37502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AD5B28-FEEB-DE19-906D-72508E4A0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161" y="770930"/>
            <a:ext cx="4741960" cy="3762968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7E1D5DB0-D88E-C343-6D79-4CFEF09F5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14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03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203441" cy="4604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181" y="1188972"/>
            <a:ext cx="3463159" cy="22209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44047" y="1883962"/>
            <a:ext cx="31834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FS PF BeauSans Pro XThin" panose="02000506030000020004" pitchFamily="2" charset="0"/>
              </a:rPr>
              <a:t>II. 5G Protocol Stacks –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FS PF BeauSans Pro XThin" panose="02000506030000020004" pitchFamily="2" charset="0"/>
              </a:rPr>
              <a:t>overview</a:t>
            </a:r>
            <a:endParaRPr lang="en-US" sz="2800" dirty="0">
              <a:solidFill>
                <a:schemeClr val="bg1"/>
              </a:solidFill>
              <a:latin typeface="FS PF BeauSans Pro Light" panose="02000500000000020004" pitchFamily="2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27D126D-9ECF-5D36-D044-DD7CBF109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15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330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II. 5G Protocol Stack - gNodeB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28650" y="1167509"/>
            <a:ext cx="3505200" cy="343198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1. Definition	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28650" y="1529626"/>
            <a:ext cx="3505200" cy="343198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2. gNodeB Interface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628650" y="1883869"/>
            <a:ext cx="3505200" cy="343198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3. gNodeB Protocol Stack – Control Plane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28650" y="2235405"/>
            <a:ext cx="3505200" cy="343198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4. gNodeB Protocol Stack – User Plane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628650" y="2578405"/>
            <a:ext cx="3505200" cy="343198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5. 5G NR Layer 3</a:t>
            </a:r>
          </a:p>
        </p:txBody>
      </p:sp>
      <p:sp>
        <p:nvSpPr>
          <p:cNvPr id="10" name="Text Placeholder 4"/>
          <p:cNvSpPr txBox="1">
            <a:spLocks/>
          </p:cNvSpPr>
          <p:nvPr/>
        </p:nvSpPr>
        <p:spPr>
          <a:xfrm>
            <a:off x="636328" y="2930938"/>
            <a:ext cx="3505200" cy="343198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350" kern="1200" dirty="0" smtClean="0">
                <a:solidFill>
                  <a:srgbClr val="44494D"/>
                </a:solidFill>
                <a:latin typeface="FS PF BeauSans Pro" panose="02000500000000020004" pitchFamily="2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</a:rPr>
              <a:t>6. 5G NR Layer 2</a:t>
            </a: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636328" y="3282474"/>
            <a:ext cx="3505200" cy="343198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350" kern="1200" dirty="0" smtClean="0">
                <a:solidFill>
                  <a:srgbClr val="B5B4B4"/>
                </a:solidFill>
                <a:latin typeface="FS PF BeauSans Pro" panose="02000500000000020004" pitchFamily="2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</a:rPr>
              <a:t>7. 5G NR Layer 1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B0B32516-63B4-AA13-2BF7-9F0153666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16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859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838"/>
            <a:ext cx="8058150" cy="627962"/>
          </a:xfrm>
        </p:spPr>
        <p:txBody>
          <a:bodyPr>
            <a:normAutofit/>
          </a:bodyPr>
          <a:lstStyle/>
          <a:p>
            <a:r>
              <a:rPr lang="en-US" sz="2700"/>
              <a:t>5G gNB Viettel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799" y="4559607"/>
            <a:ext cx="1201884" cy="415311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14830" y="448944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17</a:t>
            </a:fld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7" name="Straight Connector 6"/>
          <p:cNvCxnSpPr>
            <a:endCxn id="4" idx="1"/>
          </p:cNvCxnSpPr>
          <p:nvPr/>
        </p:nvCxnSpPr>
        <p:spPr>
          <a:xfrm>
            <a:off x="214830" y="4767263"/>
            <a:ext cx="68259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8280043" y="4757336"/>
            <a:ext cx="47061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61012" y="4584396"/>
            <a:ext cx="0" cy="3484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/>
          <p:cNvSpPr>
            <a:spLocks noGrp="1"/>
          </p:cNvSpPr>
          <p:nvPr/>
        </p:nvSpPr>
        <p:spPr>
          <a:xfrm>
            <a:off x="24385" y="1090613"/>
            <a:ext cx="4384455" cy="349378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Clr>
                <a:srgbClr val="007E7B"/>
              </a:buClr>
              <a:buFont typeface="Wingdings" pitchFamily="2" charset="2"/>
              <a:buChar char="§"/>
              <a:defRPr sz="2800" kern="1200">
                <a:solidFill>
                  <a:srgbClr val="4F5153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Clr>
                <a:srgbClr val="007E7B"/>
              </a:buClr>
              <a:buFont typeface="Wingdings" pitchFamily="2" charset="2"/>
              <a:buChar char="§"/>
              <a:defRPr sz="2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Clr>
                <a:srgbClr val="007E7B"/>
              </a:buClr>
              <a:buFont typeface="Wingdings" pitchFamily="2" charset="2"/>
              <a:buChar char="§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Clr>
                <a:srgbClr val="007E7B"/>
              </a:buClr>
              <a:buFont typeface="Wingdings" pitchFamily="2" charset="2"/>
              <a:buChar char="§"/>
              <a:defRPr sz="2933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Clr>
                <a:srgbClr val="007E7B"/>
              </a:buClr>
              <a:buFont typeface="Wingdings" pitchFamily="2" charset="2"/>
              <a:buChar char="§"/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 dirty="0"/>
              <a:t>       </a:t>
            </a:r>
            <a:r>
              <a:rPr lang="vi-VN" sz="1350" b="1" dirty="0">
                <a:solidFill>
                  <a:srgbClr val="FF0000"/>
                </a:solidFill>
              </a:rPr>
              <a:t>Chỉ tiêu kỹ thuật:</a:t>
            </a:r>
            <a:endParaRPr lang="vi-VN" sz="1350" dirty="0">
              <a:solidFill>
                <a:srgbClr val="FF000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vi-VN" sz="1100" dirty="0">
                <a:solidFill>
                  <a:schemeClr val="accent3"/>
                </a:solidFill>
                <a:latin typeface="FS PF BeauSans Pro" panose="02000500000000020004" pitchFamily="2" charset="0"/>
              </a:rPr>
              <a:t>Dung lượng: </a:t>
            </a:r>
            <a:r>
              <a:rPr lang="en-US" sz="1100" dirty="0">
                <a:solidFill>
                  <a:schemeClr val="accent3"/>
                </a:solidFill>
                <a:latin typeface="FS PF BeauSans Pro" panose="02000500000000020004" pitchFamily="2" charset="0"/>
              </a:rPr>
              <a:t>3600</a:t>
            </a:r>
            <a:r>
              <a:rPr lang="vi-VN" sz="1100" dirty="0">
                <a:solidFill>
                  <a:schemeClr val="accent3"/>
                </a:solidFill>
                <a:latin typeface="FS PF BeauSans Pro" panose="02000500000000020004" pitchFamily="2" charset="0"/>
              </a:rPr>
              <a:t> user/</a:t>
            </a:r>
            <a:r>
              <a:rPr lang="en-US" sz="1100" dirty="0" err="1">
                <a:solidFill>
                  <a:schemeClr val="accent3"/>
                </a:solidFill>
                <a:latin typeface="FS PF BeauSans Pro" panose="02000500000000020004" pitchFamily="2" charset="0"/>
              </a:rPr>
              <a:t>gNB</a:t>
            </a:r>
            <a:endParaRPr lang="vi-VN" sz="1100" dirty="0">
              <a:solidFill>
                <a:schemeClr val="accent3"/>
              </a:solidFill>
              <a:latin typeface="FS PF BeauSans Pro" panose="02000500000000020004" pitchFamily="2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>
                <a:solidFill>
                  <a:schemeClr val="accent3"/>
                </a:solidFill>
                <a:latin typeface="FS PF BeauSans Pro" panose="02000500000000020004" pitchFamily="2" charset="0"/>
              </a:rPr>
              <a:t>Băng tần: 2496-2690/3600-3800 (FR1-N41, N78- 3GPP)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>
                <a:solidFill>
                  <a:schemeClr val="accent3"/>
                </a:solidFill>
                <a:latin typeface="FS PF BeauSans Pro" panose="02000500000000020004" pitchFamily="2" charset="0"/>
              </a:rPr>
              <a:t>Băng thông: </a:t>
            </a:r>
            <a:r>
              <a:rPr lang="en-US" sz="1100" dirty="0">
                <a:solidFill>
                  <a:schemeClr val="accent3"/>
                </a:solidFill>
                <a:latin typeface="FS PF BeauSans Pro" panose="02000500000000020004" pitchFamily="2" charset="0"/>
              </a:rPr>
              <a:t>20</a:t>
            </a:r>
            <a:r>
              <a:rPr lang="vi-VN" sz="1100" dirty="0">
                <a:solidFill>
                  <a:schemeClr val="accent3"/>
                </a:solidFill>
                <a:latin typeface="FS PF BeauSans Pro" panose="02000500000000020004" pitchFamily="2" charset="0"/>
              </a:rPr>
              <a:t>-100MHz, IBW 100MHz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>
                <a:solidFill>
                  <a:schemeClr val="accent3"/>
                </a:solidFill>
                <a:latin typeface="FS PF BeauSans Pro" panose="02000500000000020004" pitchFamily="2" charset="0"/>
              </a:rPr>
              <a:t>Tốc độ (DL/UL): hỗ trợ tối đa 1.8 Gbps/380 Mbps</a:t>
            </a:r>
            <a:r>
              <a:rPr lang="en-US" sz="1100" dirty="0">
                <a:solidFill>
                  <a:schemeClr val="accent3"/>
                </a:solidFill>
                <a:latin typeface="FS PF BeauSans Pro" panose="02000500000000020004" pitchFamily="2" charset="0"/>
              </a:rPr>
              <a:t> per cell in 8T8R</a:t>
            </a:r>
            <a:endParaRPr lang="vi-VN" sz="1100" dirty="0">
              <a:solidFill>
                <a:schemeClr val="accent3"/>
              </a:solidFill>
              <a:latin typeface="FS PF BeauSans Pro" panose="02000500000000020004" pitchFamily="2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>
                <a:solidFill>
                  <a:schemeClr val="accent3"/>
                </a:solidFill>
                <a:latin typeface="FS PF BeauSans Pro" panose="02000500000000020004" pitchFamily="2" charset="0"/>
              </a:rPr>
              <a:t>Công nghệ điều chế: QPSK, 16QAM, 64QAM, 256QAM.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>
                <a:solidFill>
                  <a:schemeClr val="accent3"/>
                </a:solidFill>
                <a:latin typeface="FS PF BeauSans Pro" panose="02000500000000020004" pitchFamily="2" charset="0"/>
              </a:rPr>
              <a:t>Thu phát đa ăng ten: 8T8R, 32T32R, 64T64R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>
                <a:solidFill>
                  <a:schemeClr val="accent3"/>
                </a:solidFill>
                <a:latin typeface="FS PF BeauSans Pro" panose="02000500000000020004" pitchFamily="2" charset="0"/>
              </a:rPr>
              <a:t>Hỗ trợ: 3GPP Release 15</a:t>
            </a:r>
            <a:r>
              <a:rPr lang="en-US" sz="1100" dirty="0">
                <a:solidFill>
                  <a:schemeClr val="accent3"/>
                </a:solidFill>
                <a:latin typeface="FS PF BeauSans Pro" panose="02000500000000020004" pitchFamily="2" charset="0"/>
              </a:rPr>
              <a:t>, 16</a:t>
            </a:r>
            <a:endParaRPr lang="vi-VN" sz="1100" dirty="0">
              <a:solidFill>
                <a:schemeClr val="accent3"/>
              </a:solidFill>
              <a:latin typeface="FS PF BeauSans Pro" panose="02000500000000020004" pitchFamily="2" charset="0"/>
            </a:endParaRPr>
          </a:p>
          <a:p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284" y="963617"/>
            <a:ext cx="4357688" cy="2921794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015430" y="4090012"/>
            <a:ext cx="15946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94445" y="3881086"/>
            <a:ext cx="40908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>
                <a:solidFill>
                  <a:srgbClr val="FF0000"/>
                </a:solidFill>
              </a:rPr>
              <a:t>RRU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6897937" y="4088633"/>
            <a:ext cx="2059035" cy="13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75259" y="3879708"/>
            <a:ext cx="436658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>
                <a:solidFill>
                  <a:srgbClr val="FF0000"/>
                </a:solidFill>
              </a:rPr>
              <a:t>BBU</a:t>
            </a:r>
          </a:p>
        </p:txBody>
      </p:sp>
    </p:spTree>
    <p:extLst>
      <p:ext uri="{BB962C8B-B14F-4D97-AF65-F5344CB8AC3E}">
        <p14:creationId xmlns:p14="http://schemas.microsoft.com/office/powerpoint/2010/main" val="2483395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Definition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28650" y="1340771"/>
            <a:ext cx="3505200" cy="125770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</a:rPr>
              <a:t>Protocol</a:t>
            </a:r>
          </a:p>
          <a:p>
            <a:pPr marL="800100" lvl="1" indent="-285750"/>
            <a:r>
              <a:rPr lang="en-US" sz="1100" dirty="0"/>
              <a:t>A set of rules or procedures for transmitting data between electronic devices</a:t>
            </a: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Protocols in Transport layer: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</a:rPr>
              <a:t>Interface</a:t>
            </a:r>
          </a:p>
          <a:p>
            <a:pPr marL="800100" lvl="1" indent="-285750"/>
            <a:r>
              <a:rPr lang="en-US" sz="1100" dirty="0"/>
              <a:t>A shared boundary across which two or more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</a:rPr>
              <a:t>Protocol Stack</a:t>
            </a:r>
          </a:p>
          <a:p>
            <a:pPr marL="800100" lvl="1" indent="-285750"/>
            <a:r>
              <a:rPr lang="en-US" sz="1100" dirty="0"/>
              <a:t>A set of protocols used in communication network --- ?</a:t>
            </a:r>
          </a:p>
          <a:p>
            <a:pPr marL="285750" indent="-28575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205" y="1268016"/>
            <a:ext cx="3736185" cy="2067685"/>
          </a:xfrm>
          <a:prstGeom prst="rect">
            <a:avLst/>
          </a:prstGeom>
        </p:spPr>
      </p:pic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B848CA1-CF44-5FB3-B8DD-B879DE238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18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485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E2BA6-8890-4423-3B3D-522EA3E08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Transmission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C7CF48-85D5-E364-163B-8843579C5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" y="1373101"/>
            <a:ext cx="5852159" cy="320567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287190-C306-055A-2ADC-C73EAD55C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19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311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gNodeB Interfaces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28650" y="1286587"/>
            <a:ext cx="3719830" cy="125770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accent3"/>
                </a:solidFill>
              </a:rPr>
              <a:t>Uu Interface </a:t>
            </a:r>
            <a:r>
              <a:rPr lang="en-US" sz="1300" dirty="0">
                <a:solidFill>
                  <a:schemeClr val="tx1"/>
                </a:solidFill>
              </a:rPr>
              <a:t>or Radio Interface</a:t>
            </a:r>
          </a:p>
          <a:p>
            <a:pPr marL="800100" lvl="1" indent="-285750"/>
            <a:r>
              <a:rPr lang="en-US" sz="1300" dirty="0"/>
              <a:t>interface between UE and 5G gNodeB</a:t>
            </a:r>
            <a:endParaRPr lang="en-US" sz="13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accent3"/>
                </a:solidFill>
              </a:rPr>
              <a:t>Ng Interface </a:t>
            </a:r>
            <a:r>
              <a:rPr lang="en-US" sz="1300" dirty="0">
                <a:solidFill>
                  <a:schemeClr val="tx1"/>
                </a:solidFill>
              </a:rPr>
              <a:t>or N2 Interface</a:t>
            </a:r>
          </a:p>
          <a:p>
            <a:pPr marL="800100" lvl="1" indent="-285750"/>
            <a:r>
              <a:rPr lang="en-US" sz="1300" dirty="0"/>
              <a:t>Interface between gNodeB and 5G Core network</a:t>
            </a:r>
          </a:p>
          <a:p>
            <a:pPr marL="1143000" lvl="2" indent="-285750"/>
            <a:r>
              <a:rPr lang="en-US" sz="1300" dirty="0"/>
              <a:t>Ng-C interface for control plane</a:t>
            </a:r>
          </a:p>
          <a:p>
            <a:pPr marL="1143000" lvl="2" indent="-285750"/>
            <a:r>
              <a:rPr lang="en-US" sz="1300" dirty="0">
                <a:solidFill>
                  <a:schemeClr val="tx1"/>
                </a:solidFill>
              </a:rPr>
              <a:t>Ng-U interface for user plane</a:t>
            </a:r>
          </a:p>
          <a:p>
            <a:pPr marL="800100" lvl="1" indent="-285750"/>
            <a:r>
              <a:rPr lang="en-US" sz="1300" dirty="0">
                <a:solidFill>
                  <a:schemeClr val="tx1"/>
                </a:solidFill>
              </a:rPr>
              <a:t>Ref: from TS 38.401 to TS 38.414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accent3"/>
                </a:solidFill>
              </a:rPr>
              <a:t>Xn Interface</a:t>
            </a:r>
          </a:p>
          <a:p>
            <a:pPr marL="800100" lvl="1" indent="-285750"/>
            <a:r>
              <a:rPr lang="en-US" sz="1300" dirty="0"/>
              <a:t>Interface between </a:t>
            </a:r>
            <a:r>
              <a:rPr lang="en-US" sz="1300" dirty="0" err="1"/>
              <a:t>gNodeb</a:t>
            </a:r>
            <a:r>
              <a:rPr lang="en-US" sz="1300" dirty="0"/>
              <a:t> and gNodeB</a:t>
            </a:r>
          </a:p>
          <a:p>
            <a:pPr marL="1143000" lvl="2" indent="-285750"/>
            <a:r>
              <a:rPr lang="en-US" sz="1300" dirty="0">
                <a:solidFill>
                  <a:schemeClr val="tx1"/>
                </a:solidFill>
              </a:rPr>
              <a:t>Xn-C interface for control plane</a:t>
            </a:r>
          </a:p>
          <a:p>
            <a:pPr marL="1143000" lvl="2" indent="-285750"/>
            <a:r>
              <a:rPr lang="en-US" sz="1300" dirty="0"/>
              <a:t>Xn-U interface for user plane</a:t>
            </a:r>
          </a:p>
          <a:p>
            <a:pPr marL="800100" lvl="1" indent="-285750"/>
            <a:r>
              <a:rPr lang="en-US" sz="1300" dirty="0">
                <a:solidFill>
                  <a:schemeClr val="tx1"/>
                </a:solidFill>
              </a:rPr>
              <a:t>Ref: from TS 38.420 to TS 38.424</a:t>
            </a:r>
            <a:endParaRPr lang="vi-VN" sz="1300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168" y="1163470"/>
            <a:ext cx="4389807" cy="2870007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0D549A2-B9DD-DF95-BB42-3D4E5279C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20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642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gNodeB Protocol Stack - Control plane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540" y="1354913"/>
            <a:ext cx="6365810" cy="292078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59A765-8B7B-8928-E622-E4B33CC2A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21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445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gNodeB Protocol Stack - User plane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499" y="1094763"/>
            <a:ext cx="6372851" cy="328995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60139F-7E30-D242-BFEF-6C037C3A8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22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314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Student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28649" y="1340772"/>
            <a:ext cx="6853412" cy="343198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Show the gNodeB Protocol Stack for Xn Interface – Control Plane &amp; User Plane</a:t>
            </a:r>
          </a:p>
          <a:p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28649" y="2063309"/>
            <a:ext cx="3505200" cy="343198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5 minutes</a:t>
            </a:r>
          </a:p>
          <a:p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F00CC1F-C646-117D-A0E8-957CACF9D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23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1537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1CAE5E-A9E3-4A9D-B0C7-3BA4D7611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E6EB0-D8A1-412B-ABEA-7A35604D9AC4}" type="slidenum">
              <a:rPr lang="en-US" smtClean="0">
                <a:solidFill>
                  <a:schemeClr val="accent4"/>
                </a:solidFill>
              </a:rPr>
              <a:t>24</a:t>
            </a:fld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D063AE-15B4-D3F0-6443-8D435E93ADFD}"/>
              </a:ext>
            </a:extLst>
          </p:cNvPr>
          <p:cNvSpPr txBox="1"/>
          <p:nvPr/>
        </p:nvSpPr>
        <p:spPr>
          <a:xfrm>
            <a:off x="342900" y="2301"/>
            <a:ext cx="8801100" cy="620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50" b="1" dirty="0">
                <a:solidFill>
                  <a:srgbClr val="C00000"/>
                </a:solidFill>
              </a:rPr>
              <a:t>5G GNODEB ARCHITECTURE &amp; SW PROTOCOL STRUCTURE</a:t>
            </a:r>
            <a:endParaRPr lang="en-US" sz="2700" b="1" dirty="0">
              <a:solidFill>
                <a:srgbClr val="C00000"/>
              </a:solidFill>
            </a:endParaRPr>
          </a:p>
        </p:txBody>
      </p:sp>
      <p:pic>
        <p:nvPicPr>
          <p:cNvPr id="2051" name="Picture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1" y="1657350"/>
            <a:ext cx="4939394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" y="-112562"/>
            <a:ext cx="138564" cy="22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013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314951" y="761641"/>
            <a:ext cx="138564" cy="22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013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5161943" y="645886"/>
          <a:ext cx="3506414" cy="3809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6581789" imgH="7181730" progId="Visio.Drawing.15">
                  <p:embed/>
                </p:oleObj>
              </mc:Choice>
              <mc:Fallback>
                <p:oleObj name="Visio" r:id="rId4" imgW="6581789" imgH="7181730" progId="Visio.Drawing.15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1943" y="645886"/>
                        <a:ext cx="3506414" cy="38097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5C3B89E2-C890-4EC2-A77C-91DA0C3A8A9F}"/>
              </a:ext>
            </a:extLst>
          </p:cNvPr>
          <p:cNvSpPr/>
          <p:nvPr/>
        </p:nvSpPr>
        <p:spPr>
          <a:xfrm>
            <a:off x="1943101" y="4008730"/>
            <a:ext cx="1622243" cy="32405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C536F"/>
            </a:solidFill>
            <a:prstDash val="dash"/>
            <a:miter lim="800000"/>
          </a:ln>
          <a:effectLst/>
        </p:spPr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>
              <a:defRPr/>
            </a:pPr>
            <a:r>
              <a:rPr lang="en-US" sz="975" b="1" kern="0" dirty="0">
                <a:solidFill>
                  <a:schemeClr val="accent2"/>
                </a:solidFill>
                <a:latin typeface="FS PF BeauSans Pro" panose="02000500000000020004" pitchFamily="2" charset="0"/>
                <a:cs typeface="Sarabun" panose="00000500000000000000" pitchFamily="2" charset="-34"/>
              </a:rPr>
              <a:t>GNODEB ARCHITECTURE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3B89E2-C890-4EC2-A77C-91DA0C3A8A9F}"/>
              </a:ext>
            </a:extLst>
          </p:cNvPr>
          <p:cNvSpPr/>
          <p:nvPr/>
        </p:nvSpPr>
        <p:spPr>
          <a:xfrm>
            <a:off x="5657851" y="4562758"/>
            <a:ext cx="2639921" cy="32405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C536F"/>
            </a:solidFill>
            <a:prstDash val="dash"/>
            <a:miter lim="800000"/>
          </a:ln>
          <a:effectLst/>
        </p:spPr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>
              <a:defRPr/>
            </a:pPr>
            <a:r>
              <a:rPr lang="en-US" sz="975" b="1" kern="0" dirty="0">
                <a:solidFill>
                  <a:schemeClr val="accent2"/>
                </a:solidFill>
                <a:latin typeface="FS PF BeauSans Pro" panose="02000500000000020004" pitchFamily="2" charset="0"/>
                <a:cs typeface="Sarabun" panose="00000500000000000000" pitchFamily="2" charset="-34"/>
              </a:rPr>
              <a:t>GNODEB SOFTWARE PROTOCOL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218AEE-2342-43F1-A10F-CF31C1E1AC50}"/>
              </a:ext>
            </a:extLst>
          </p:cNvPr>
          <p:cNvSpPr txBox="1"/>
          <p:nvPr/>
        </p:nvSpPr>
        <p:spPr>
          <a:xfrm>
            <a:off x="620533" y="908529"/>
            <a:ext cx="3213173" cy="369332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>
              <a:defRPr/>
            </a:pPr>
            <a:r>
              <a:rPr lang="en-US" sz="1800" b="1" kern="0" noProof="1">
                <a:solidFill>
                  <a:schemeClr val="accent2"/>
                </a:solidFill>
              </a:rPr>
              <a:t>Where is the interface NG-C ?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7FDCF278-23CA-E89B-4B3F-E1053224B5AF}"/>
              </a:ext>
            </a:extLst>
          </p:cNvPr>
          <p:cNvSpPr txBox="1">
            <a:spLocks/>
          </p:cNvSpPr>
          <p:nvPr/>
        </p:nvSpPr>
        <p:spPr>
          <a:xfrm>
            <a:off x="21790" y="4723126"/>
            <a:ext cx="384557" cy="301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6858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B98895-42D1-4568-AA14-19FE58D3EDFF}" type="slidenum">
              <a:rPr lang="en-US" sz="1350" smtClean="0">
                <a:solidFill>
                  <a:srgbClr val="FF0000"/>
                </a:solidFill>
              </a:rPr>
              <a:pPr/>
              <a:t>24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070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5G NR Layer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28650" y="1268016"/>
            <a:ext cx="3505200" cy="303008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</a:rPr>
              <a:t>Protocol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Radio Resource Control</a:t>
            </a:r>
            <a:r>
              <a:rPr lang="vi-VN" sz="1100" dirty="0">
                <a:solidFill>
                  <a:schemeClr val="tx1"/>
                </a:solidFill>
              </a:rPr>
              <a:t> - </a:t>
            </a:r>
            <a:r>
              <a:rPr lang="en-US" sz="1100" dirty="0">
                <a:solidFill>
                  <a:schemeClr val="tx1"/>
                </a:solidFill>
              </a:rPr>
              <a:t>RRC</a:t>
            </a: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Ng Application Protocol</a:t>
            </a:r>
            <a:r>
              <a:rPr lang="vi-VN" sz="1100" dirty="0">
                <a:solidFill>
                  <a:schemeClr val="tx1"/>
                </a:solidFill>
              </a:rPr>
              <a:t> – </a:t>
            </a:r>
            <a:r>
              <a:rPr lang="en-US" sz="1100" dirty="0" err="1">
                <a:solidFill>
                  <a:schemeClr val="tx1"/>
                </a:solidFill>
              </a:rPr>
              <a:t>NgAP</a:t>
            </a:r>
            <a:endParaRPr lang="vi-VN" sz="1100" dirty="0">
              <a:solidFill>
                <a:schemeClr val="tx1"/>
              </a:solidFill>
            </a:endParaRP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Xn Application Protocol</a:t>
            </a:r>
            <a:r>
              <a:rPr lang="vi-VN" sz="1100" dirty="0">
                <a:solidFill>
                  <a:schemeClr val="tx1"/>
                </a:solidFill>
              </a:rPr>
              <a:t> – </a:t>
            </a:r>
            <a:r>
              <a:rPr lang="en-US" sz="1100" dirty="0" err="1">
                <a:solidFill>
                  <a:schemeClr val="tx1"/>
                </a:solidFill>
              </a:rPr>
              <a:t>XnAP</a:t>
            </a:r>
            <a:endParaRPr lang="vi-VN" sz="1100" dirty="0">
              <a:solidFill>
                <a:schemeClr val="tx1"/>
              </a:solidFill>
            </a:endParaRP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F1 Application Protocol</a:t>
            </a:r>
            <a:r>
              <a:rPr lang="vi-VN" sz="1100" dirty="0">
                <a:solidFill>
                  <a:schemeClr val="tx1"/>
                </a:solidFill>
              </a:rPr>
              <a:t> – </a:t>
            </a:r>
            <a:r>
              <a:rPr lang="en-US" sz="1100" dirty="0">
                <a:solidFill>
                  <a:schemeClr val="tx1"/>
                </a:solidFill>
              </a:rPr>
              <a:t>F1AP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</a:rPr>
              <a:t>Main function</a:t>
            </a:r>
          </a:p>
          <a:p>
            <a:pPr marL="800100" lvl="1" indent="-285750"/>
            <a:r>
              <a:rPr lang="en-US" sz="1100" dirty="0"/>
              <a:t>Broadcast of system information</a:t>
            </a:r>
          </a:p>
          <a:p>
            <a:pPr marL="800100" lvl="1" indent="-285750"/>
            <a:r>
              <a:rPr lang="en-US" sz="1100" dirty="0"/>
              <a:t>Manage RRC connection (establish, maintain, release)</a:t>
            </a:r>
          </a:p>
          <a:p>
            <a:pPr marL="800100" lvl="1" indent="-285750"/>
            <a:r>
              <a:rPr lang="en-US" sz="1100" dirty="0"/>
              <a:t>Manage Data Radio Bearer – DRB (establish, configuration, maintain, release)</a:t>
            </a:r>
          </a:p>
          <a:p>
            <a:pPr marL="800100" lvl="1" indent="-285750"/>
            <a:r>
              <a:rPr lang="en-US" sz="1100" dirty="0"/>
              <a:t>Mobility function &amp; </a:t>
            </a:r>
            <a:r>
              <a:rPr lang="en-US" sz="1100" dirty="0" err="1"/>
              <a:t>QoS</a:t>
            </a:r>
            <a:r>
              <a:rPr lang="en-US" sz="1100" dirty="0"/>
              <a:t> management</a:t>
            </a:r>
          </a:p>
          <a:p>
            <a:pPr marL="800100" lvl="1" indent="-285750"/>
            <a:r>
              <a:rPr lang="en-US" sz="1100" dirty="0"/>
              <a:t>Manage the procedures between </a:t>
            </a:r>
            <a:r>
              <a:rPr lang="en-US" sz="1100" dirty="0" err="1"/>
              <a:t>gNB</a:t>
            </a:r>
            <a:r>
              <a:rPr lang="en-US" sz="1100" dirty="0"/>
              <a:t> and 5GC</a:t>
            </a:r>
          </a:p>
          <a:p>
            <a:pPr marL="800100" lvl="1" indent="-285750"/>
            <a:r>
              <a:rPr lang="en-US" sz="1100" dirty="0"/>
              <a:t>Manage the procedures among </a:t>
            </a:r>
            <a:r>
              <a:rPr lang="en-US" sz="1100" dirty="0" err="1"/>
              <a:t>gNBs</a:t>
            </a:r>
            <a:endParaRPr lang="en-US" sz="1100" dirty="0"/>
          </a:p>
          <a:p>
            <a:pPr marL="800100" lvl="1" indent="-28575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850" y="1441877"/>
            <a:ext cx="4684215" cy="2856228"/>
          </a:xfrm>
          <a:prstGeom prst="rect">
            <a:avLst/>
          </a:prstGeom>
        </p:spPr>
      </p:pic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BCA926A-6770-9AA7-E878-C9A7768D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25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778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5G NR Layer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28650" y="1340771"/>
            <a:ext cx="3505200" cy="125770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1"/>
                </a:solidFill>
              </a:rPr>
              <a:t>Service Data Application Protocol - </a:t>
            </a:r>
            <a:r>
              <a:rPr lang="vi-VN" dirty="0">
                <a:solidFill>
                  <a:schemeClr val="accent3"/>
                </a:solidFill>
              </a:rPr>
              <a:t>SDAP</a:t>
            </a:r>
            <a:endParaRPr lang="en-US" dirty="0">
              <a:solidFill>
                <a:schemeClr val="accent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1"/>
                </a:solidFill>
              </a:rPr>
              <a:t>Package Data Convengence Protocol – </a:t>
            </a:r>
            <a:r>
              <a:rPr lang="vi-VN" dirty="0">
                <a:solidFill>
                  <a:schemeClr val="accent3"/>
                </a:solidFill>
              </a:rPr>
              <a:t>PDCP</a:t>
            </a:r>
            <a:endParaRPr lang="en-US" dirty="0">
              <a:solidFill>
                <a:schemeClr val="accent3"/>
              </a:solidFill>
            </a:endParaRPr>
          </a:p>
          <a:p>
            <a:pPr marL="800100" lvl="1" indent="-285750"/>
            <a:r>
              <a:rPr lang="en-US" sz="1100" dirty="0"/>
              <a:t>Sequence numbering</a:t>
            </a: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Ciphering &amp; integrity</a:t>
            </a:r>
          </a:p>
          <a:p>
            <a:pPr marL="800100" lvl="1" indent="-285750"/>
            <a:r>
              <a:rPr lang="en-US" sz="1100" dirty="0"/>
              <a:t>Header compression</a:t>
            </a:r>
            <a:endParaRPr lang="vi-VN" sz="11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1"/>
                </a:solidFill>
              </a:rPr>
              <a:t>Radio Link Control – </a:t>
            </a:r>
            <a:r>
              <a:rPr lang="vi-VN" dirty="0">
                <a:solidFill>
                  <a:schemeClr val="accent3"/>
                </a:solidFill>
              </a:rPr>
              <a:t>RLC</a:t>
            </a:r>
            <a:endParaRPr lang="en-US" dirty="0">
              <a:solidFill>
                <a:schemeClr val="accent3"/>
              </a:solidFill>
            </a:endParaRPr>
          </a:p>
          <a:p>
            <a:pPr marL="800100" lvl="1" indent="-285750"/>
            <a:r>
              <a:rPr lang="en-US" sz="1100" dirty="0"/>
              <a:t>3 mode of transfer: UM, AM, TM</a:t>
            </a: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Segmentation and re-segmentation</a:t>
            </a:r>
          </a:p>
          <a:p>
            <a:pPr marL="800100" lvl="1" indent="-285750"/>
            <a:r>
              <a:rPr lang="en-US" sz="1100" dirty="0"/>
              <a:t>Error correction through ARQ</a:t>
            </a:r>
            <a:endParaRPr lang="vi-VN" sz="11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1"/>
                </a:solidFill>
              </a:rPr>
              <a:t>Medium Access Control – </a:t>
            </a:r>
            <a:r>
              <a:rPr lang="vi-VN" dirty="0">
                <a:solidFill>
                  <a:schemeClr val="accent3"/>
                </a:solidFill>
              </a:rPr>
              <a:t>MAC</a:t>
            </a:r>
            <a:endParaRPr lang="en-US" dirty="0">
              <a:solidFill>
                <a:schemeClr val="accent3"/>
              </a:solidFill>
            </a:endParaRP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Mapping logical-transport channels</a:t>
            </a:r>
          </a:p>
          <a:p>
            <a:pPr marL="800100" lvl="1" indent="-285750"/>
            <a:r>
              <a:rPr lang="en-US" sz="1100" dirty="0"/>
              <a:t>Multiplexing/ de-multiplexing.</a:t>
            </a:r>
          </a:p>
          <a:p>
            <a:pPr marL="800100" lvl="1" indent="-285750"/>
            <a:r>
              <a:rPr lang="en-US" sz="1100" dirty="0">
                <a:solidFill>
                  <a:schemeClr val="tx1"/>
                </a:solidFill>
              </a:rPr>
              <a:t>Scheduling </a:t>
            </a:r>
          </a:p>
          <a:p>
            <a:pPr marL="800100" lvl="1" indent="-285750"/>
            <a:r>
              <a:rPr lang="en-US" sz="1100" dirty="0"/>
              <a:t>Error correction through HARQ</a:t>
            </a:r>
            <a:endParaRPr lang="en-US" sz="1100" dirty="0">
              <a:solidFill>
                <a:schemeClr val="tx1"/>
              </a:solidFill>
            </a:endParaRPr>
          </a:p>
          <a:p>
            <a:pPr marL="800100" lvl="1" indent="-285750"/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57" y="1340771"/>
            <a:ext cx="5024198" cy="2619305"/>
          </a:xfrm>
          <a:prstGeom prst="rect">
            <a:avLst/>
          </a:prstGeom>
        </p:spPr>
      </p:pic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050D59B9-D7EB-3B54-E31A-BCD7C17E4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26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781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5G NR Layer 1</a:t>
            </a:r>
          </a:p>
        </p:txBody>
      </p:sp>
      <p:pic>
        <p:nvPicPr>
          <p:cNvPr id="7" name="Picture 4" descr="Image result for PHY split option">
            <a:extLst>
              <a:ext uri="{FF2B5EF4-FFF2-40B4-BE49-F238E27FC236}">
                <a16:creationId xmlns:a16="http://schemas.microsoft.com/office/drawing/2014/main" id="{A11F9117-2AAD-03E6-49EF-8DC32CAE2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813" y="1199351"/>
            <a:ext cx="6660409" cy="3378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1249F6-456D-0130-3D40-BBA51D614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27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177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Channel mapping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28649" y="1340771"/>
            <a:ext cx="3759155" cy="220764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</a:rPr>
              <a:t>MIB (RRC messages) - ~ 24bit</a:t>
            </a:r>
          </a:p>
          <a:p>
            <a:pPr marL="800100" lvl="1" indent="-285750"/>
            <a:r>
              <a:rPr lang="en-US" sz="1200" dirty="0"/>
              <a:t>RLC mode: TM</a:t>
            </a:r>
          </a:p>
          <a:p>
            <a:pPr marL="800100" lvl="1" indent="-285750"/>
            <a:r>
              <a:rPr lang="en-US" sz="1200" dirty="0"/>
              <a:t>Logical channel: BCCH</a:t>
            </a:r>
          </a:p>
          <a:p>
            <a:pPr marL="800100" lvl="1" indent="-285750"/>
            <a:r>
              <a:rPr lang="en-US" sz="1200" dirty="0"/>
              <a:t>Transport channel: BCH</a:t>
            </a:r>
          </a:p>
          <a:p>
            <a:pPr marL="800100" lvl="1" indent="-285750"/>
            <a:r>
              <a:rPr lang="en-US" sz="1200" dirty="0">
                <a:solidFill>
                  <a:schemeClr val="tx1"/>
                </a:solidFill>
              </a:rPr>
              <a:t>Physical channel: PBCH</a:t>
            </a:r>
          </a:p>
          <a:p>
            <a:pPr marL="1143000" lvl="2" indent="-285750"/>
            <a:r>
              <a:rPr lang="en-US" sz="1200" dirty="0"/>
              <a:t>576 Resource Elements (240*2 + 48*2)</a:t>
            </a:r>
          </a:p>
          <a:p>
            <a:pPr marL="1143000" lvl="2" indent="-285750"/>
            <a:r>
              <a:rPr lang="en-US" sz="1200" dirty="0"/>
              <a:t>Coding: polar coding</a:t>
            </a:r>
          </a:p>
          <a:p>
            <a:pPr marL="1143000" lvl="2" indent="-285750"/>
            <a:r>
              <a:rPr lang="en-US" sz="1200" dirty="0">
                <a:solidFill>
                  <a:schemeClr val="tx1"/>
                </a:solidFill>
              </a:rPr>
              <a:t>Modulation: QPSK</a:t>
            </a:r>
          </a:p>
          <a:p>
            <a:pPr marL="1143000" lvl="2" indent="-285750"/>
            <a:r>
              <a:rPr lang="en-US" sz="1200" dirty="0"/>
              <a:t>antenna transmission scheme: single</a:t>
            </a:r>
            <a:endParaRPr lang="en-US" sz="1200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dirty="0"/>
          </a:p>
          <a:p>
            <a:pPr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800100" lvl="1" indent="-28575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804" y="1840436"/>
            <a:ext cx="4522269" cy="26254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22877" y="1247548"/>
            <a:ext cx="614149" cy="279779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MIB </a:t>
            </a:r>
            <a:r>
              <a:rPr lang="en-US" sz="900" dirty="0"/>
              <a:t>message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5923128" y="1538176"/>
            <a:ext cx="6823" cy="440753"/>
          </a:xfrm>
          <a:prstGeom prst="straightConnector1">
            <a:avLst/>
          </a:prstGeom>
          <a:ln w="3175">
            <a:solidFill>
              <a:schemeClr val="accent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B44E98B3-AC9F-6D1E-CAEB-230E7DEF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28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816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203441" cy="4604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181" y="1188972"/>
            <a:ext cx="3463159" cy="22209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28545" y="2068628"/>
            <a:ext cx="3014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FS PF BeauSans Pro XThin" panose="02000506030000020004" pitchFamily="2" charset="0"/>
              </a:rPr>
              <a:t>III. 5G NR Paging Feature</a:t>
            </a:r>
            <a:endParaRPr lang="en-US" sz="2800" dirty="0">
              <a:solidFill>
                <a:schemeClr val="bg1"/>
              </a:solidFill>
              <a:latin typeface="FS PF BeauSans Pro Light" panose="02000500000000020004" pitchFamily="2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DB26A0EE-4E81-F6B7-93CA-F5BCD2F15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29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769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III. </a:t>
            </a:r>
            <a:r>
              <a:rPr lang="en-US" dirty="0">
                <a:solidFill>
                  <a:srgbClr val="FF0000"/>
                </a:solidFill>
              </a:rPr>
              <a:t>5G NR Paging Feature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1. What - Requirement	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2. Paging Call Flow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3. 3GPP – document	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4. Paging Occasion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5. Calculate the Paging Occasion at UE</a:t>
            </a:r>
          </a:p>
        </p:txBody>
      </p:sp>
      <p:sp>
        <p:nvSpPr>
          <p:cNvPr id="10" name="Text Placeholder 4"/>
          <p:cNvSpPr txBox="1">
            <a:spLocks/>
          </p:cNvSpPr>
          <p:nvPr/>
        </p:nvSpPr>
        <p:spPr>
          <a:xfrm>
            <a:off x="636328" y="3104201"/>
            <a:ext cx="3505200" cy="343198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350" kern="1200" dirty="0" smtClean="0">
                <a:solidFill>
                  <a:srgbClr val="44494D"/>
                </a:solidFill>
                <a:latin typeface="FS PF BeauSans Pro" panose="02000500000000020004" pitchFamily="2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</a:rPr>
              <a:t>6. Select the best Paging Occasion at </a:t>
            </a:r>
            <a:r>
              <a:rPr lang="en-US" dirty="0" err="1">
                <a:solidFill>
                  <a:srgbClr val="002060"/>
                </a:solidFill>
              </a:rPr>
              <a:t>gNB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636328" y="3455737"/>
            <a:ext cx="3505200" cy="343198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350" kern="1200" dirty="0" smtClean="0">
                <a:solidFill>
                  <a:srgbClr val="B5B4B4"/>
                </a:solidFill>
                <a:latin typeface="FS PF BeauSans Pro" panose="02000500000000020004" pitchFamily="2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</a:rPr>
              <a:t>7. Simulation </a:t>
            </a:r>
          </a:p>
        </p:txBody>
      </p:sp>
      <p:sp>
        <p:nvSpPr>
          <p:cNvPr id="12" name="Text Placeholder 6"/>
          <p:cNvSpPr txBox="1">
            <a:spLocks/>
          </p:cNvSpPr>
          <p:nvPr/>
        </p:nvSpPr>
        <p:spPr>
          <a:xfrm>
            <a:off x="636328" y="3798737"/>
            <a:ext cx="3505200" cy="343198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350" kern="1200" baseline="0" dirty="0" smtClean="0">
                <a:solidFill>
                  <a:srgbClr val="B5B4B4"/>
                </a:solidFill>
                <a:latin typeface="FS PF BeauSans Pro" panose="02000500000000020004" pitchFamily="2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FS PF BeauSans Pro" panose="02000500000000020004" pitchFamily="2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</a:rPr>
              <a:t>8. Mini-project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13115DFF-B2C9-5C23-C352-72F6A814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30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2976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loud 74">
            <a:extLst>
              <a:ext uri="{FF2B5EF4-FFF2-40B4-BE49-F238E27FC236}">
                <a16:creationId xmlns:a16="http://schemas.microsoft.com/office/drawing/2014/main" id="{BE6EEEB7-73C9-4693-9A90-36C8EC11D1B9}"/>
              </a:ext>
            </a:extLst>
          </p:cNvPr>
          <p:cNvSpPr/>
          <p:nvPr/>
        </p:nvSpPr>
        <p:spPr>
          <a:xfrm>
            <a:off x="6674739" y="2317653"/>
            <a:ext cx="2318121" cy="2230551"/>
          </a:xfrm>
          <a:prstGeom prst="cloud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Cloud 71">
            <a:extLst>
              <a:ext uri="{FF2B5EF4-FFF2-40B4-BE49-F238E27FC236}">
                <a16:creationId xmlns:a16="http://schemas.microsoft.com/office/drawing/2014/main" id="{2BDDB6B3-4E34-422D-BF45-F863073D687A}"/>
              </a:ext>
            </a:extLst>
          </p:cNvPr>
          <p:cNvSpPr/>
          <p:nvPr/>
        </p:nvSpPr>
        <p:spPr>
          <a:xfrm>
            <a:off x="5002606" y="2173955"/>
            <a:ext cx="1779755" cy="2230551"/>
          </a:xfrm>
          <a:prstGeom prst="cloud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9881E8-9543-40CA-896F-94F055ECC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What - Requirement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36B27-B0E7-478A-ACEF-A9BCE8880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1340771"/>
            <a:ext cx="3943350" cy="315688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Purpose of Paging Procedure:</a:t>
            </a:r>
          </a:p>
          <a:p>
            <a:pPr marL="800100" lvl="1" indent="-285750" algn="just"/>
            <a:r>
              <a:rPr lang="en-US" dirty="0"/>
              <a:t>Triggering mobile terminated connections setup (RRC Setup Request/ RRC Resume Request)</a:t>
            </a:r>
          </a:p>
          <a:p>
            <a:pPr marL="800100" lvl="1" indent="-285750" algn="just"/>
            <a:r>
              <a:rPr lang="en-US" dirty="0"/>
              <a:t>Informing UE of the System Information Modification</a:t>
            </a:r>
          </a:p>
          <a:p>
            <a:pPr marL="800100" lvl="1" indent="-285750" algn="just"/>
            <a:r>
              <a:rPr lang="en-US" dirty="0"/>
              <a:t>Notifying UE of incoming ETWS/CMAS message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7D52A4-D966-41CE-8F4E-F7A621BB4785}"/>
              </a:ext>
            </a:extLst>
          </p:cNvPr>
          <p:cNvSpPr/>
          <p:nvPr/>
        </p:nvSpPr>
        <p:spPr>
          <a:xfrm>
            <a:off x="7073375" y="1874198"/>
            <a:ext cx="1289180" cy="25693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NGAP Paging</a:t>
            </a:r>
          </a:p>
        </p:txBody>
      </p:sp>
      <p:pic>
        <p:nvPicPr>
          <p:cNvPr id="12" name="Graphic 11" descr="Server">
            <a:extLst>
              <a:ext uri="{FF2B5EF4-FFF2-40B4-BE49-F238E27FC236}">
                <a16:creationId xmlns:a16="http://schemas.microsoft.com/office/drawing/2014/main" id="{E5863542-8533-4528-9B4E-43BDAF9AA5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8451" y="1008496"/>
            <a:ext cx="422407" cy="422407"/>
          </a:xfrm>
          <a:prstGeom prst="rect">
            <a:avLst/>
          </a:prstGeom>
        </p:spPr>
      </p:pic>
      <p:pic>
        <p:nvPicPr>
          <p:cNvPr id="14" name="Graphic 13" descr="Smart Phone">
            <a:extLst>
              <a:ext uri="{FF2B5EF4-FFF2-40B4-BE49-F238E27FC236}">
                <a16:creationId xmlns:a16="http://schemas.microsoft.com/office/drawing/2014/main" id="{F64559A5-46F1-4D18-8FE2-F1E662B9DAD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4199" y="3627940"/>
            <a:ext cx="393378" cy="3933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05C5B15-42B7-4C0E-87DF-B24A0E5B17F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50443" y="2602700"/>
            <a:ext cx="393377" cy="39337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074A1F2-D081-45E8-813F-2548B7FEBA4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41880" y="2602700"/>
            <a:ext cx="393377" cy="39337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2EFDD67-B26C-43DD-AB16-9DD1E673B9C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65432" y="2558066"/>
            <a:ext cx="393377" cy="393377"/>
          </a:xfrm>
          <a:prstGeom prst="rect">
            <a:avLst/>
          </a:prstGeom>
        </p:spPr>
      </p:pic>
      <p:pic>
        <p:nvPicPr>
          <p:cNvPr id="20" name="Graphic 19" descr="Smart Phone">
            <a:extLst>
              <a:ext uri="{FF2B5EF4-FFF2-40B4-BE49-F238E27FC236}">
                <a16:creationId xmlns:a16="http://schemas.microsoft.com/office/drawing/2014/main" id="{EE889CF5-EEA4-4364-AF64-E35B4FCF9D7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0141" y="3839923"/>
            <a:ext cx="393378" cy="393378"/>
          </a:xfrm>
          <a:prstGeom prst="rect">
            <a:avLst/>
          </a:prstGeom>
        </p:spPr>
      </p:pic>
      <p:pic>
        <p:nvPicPr>
          <p:cNvPr id="21" name="Graphic 20" descr="Smart Phone">
            <a:extLst>
              <a:ext uri="{FF2B5EF4-FFF2-40B4-BE49-F238E27FC236}">
                <a16:creationId xmlns:a16="http://schemas.microsoft.com/office/drawing/2014/main" id="{B2789A23-CEB5-47F2-BF4D-47E4448638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0597" y="3848716"/>
            <a:ext cx="393378" cy="393378"/>
          </a:xfrm>
          <a:prstGeom prst="rect">
            <a:avLst/>
          </a:prstGeom>
        </p:spPr>
      </p:pic>
      <p:pic>
        <p:nvPicPr>
          <p:cNvPr id="22" name="Graphic 21" descr="Smart Phone">
            <a:extLst>
              <a:ext uri="{FF2B5EF4-FFF2-40B4-BE49-F238E27FC236}">
                <a16:creationId xmlns:a16="http://schemas.microsoft.com/office/drawing/2014/main" id="{46E6E620-4800-4196-8335-03C7064E60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45066" y="3627940"/>
            <a:ext cx="393378" cy="393378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9968246-C244-47AF-A277-22082698B0FC}"/>
              </a:ext>
            </a:extLst>
          </p:cNvPr>
          <p:cNvCxnSpPr>
            <a:cxnSpLocks/>
            <a:stCxn id="12" idx="2"/>
            <a:endCxn id="10" idx="0"/>
          </p:cNvCxnSpPr>
          <p:nvPr/>
        </p:nvCxnSpPr>
        <p:spPr>
          <a:xfrm>
            <a:off x="6999655" y="1430903"/>
            <a:ext cx="718310" cy="443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3FDF60-37AF-4813-9B78-D39C0267024C}"/>
              </a:ext>
            </a:extLst>
          </p:cNvPr>
          <p:cNvCxnSpPr>
            <a:cxnSpLocks/>
            <a:stCxn id="10" idx="2"/>
            <a:endCxn id="18" idx="0"/>
          </p:cNvCxnSpPr>
          <p:nvPr/>
        </p:nvCxnSpPr>
        <p:spPr>
          <a:xfrm>
            <a:off x="7717965" y="2131137"/>
            <a:ext cx="20603" cy="471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B024AAA-5024-4F11-A5E2-5E0A2BD799EA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6999655" y="1430903"/>
            <a:ext cx="221414" cy="439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17EC8A9-AD1F-44DF-9014-6A04E5F2A00A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7162120" y="2127797"/>
            <a:ext cx="122790" cy="4302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7F42644-D008-495A-BFE6-56B6944AC86A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6999655" y="1430903"/>
            <a:ext cx="1044245" cy="434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298CA40-F04A-40B1-8A0D-FAAAF6ECE34A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8204530" y="2114257"/>
            <a:ext cx="242601" cy="488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55">
            <a:extLst>
              <a:ext uri="{FF2B5EF4-FFF2-40B4-BE49-F238E27FC236}">
                <a16:creationId xmlns:a16="http://schemas.microsoft.com/office/drawing/2014/main" id="{0DCD9879-31C5-4FDA-B2BC-8D4DEA05BCE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07"/>
          <a:stretch/>
        </p:blipFill>
        <p:spPr>
          <a:xfrm rot="5400000">
            <a:off x="7338654" y="3020833"/>
            <a:ext cx="830951" cy="893613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930C7B6D-C87B-4D3B-9E2C-45D2A7B34789}"/>
              </a:ext>
            </a:extLst>
          </p:cNvPr>
          <p:cNvSpPr/>
          <p:nvPr/>
        </p:nvSpPr>
        <p:spPr>
          <a:xfrm>
            <a:off x="6924004" y="3249902"/>
            <a:ext cx="1710248" cy="25693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RRC Paging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5FF01214-D618-4D4B-89B6-3637A7455EE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769" y="2571749"/>
            <a:ext cx="393377" cy="39337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FB31CCC4-D2B5-4115-AEAB-C8B527C113B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491625" y="2571750"/>
            <a:ext cx="393377" cy="393377"/>
          </a:xfrm>
          <a:prstGeom prst="rect">
            <a:avLst/>
          </a:prstGeom>
        </p:spPr>
      </p:pic>
      <p:pic>
        <p:nvPicPr>
          <p:cNvPr id="64" name="Graphic 63" descr="Smart Phone">
            <a:extLst>
              <a:ext uri="{FF2B5EF4-FFF2-40B4-BE49-F238E27FC236}">
                <a16:creationId xmlns:a16="http://schemas.microsoft.com/office/drawing/2014/main" id="{5083F950-B057-481C-B280-F81E0E635DD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70350" y="3325398"/>
            <a:ext cx="393378" cy="393378"/>
          </a:xfrm>
          <a:prstGeom prst="rect">
            <a:avLst/>
          </a:prstGeom>
        </p:spPr>
      </p:pic>
      <p:pic>
        <p:nvPicPr>
          <p:cNvPr id="65" name="Graphic 64" descr="Smart Phone">
            <a:extLst>
              <a:ext uri="{FF2B5EF4-FFF2-40B4-BE49-F238E27FC236}">
                <a16:creationId xmlns:a16="http://schemas.microsoft.com/office/drawing/2014/main" id="{8B16F7A2-F8EC-4018-AA09-BD3869E147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6336" y="3523978"/>
            <a:ext cx="393378" cy="393378"/>
          </a:xfrm>
          <a:prstGeom prst="rect">
            <a:avLst/>
          </a:prstGeom>
        </p:spPr>
      </p:pic>
      <p:pic>
        <p:nvPicPr>
          <p:cNvPr id="66" name="Graphic 65" descr="Smart Phone">
            <a:extLst>
              <a:ext uri="{FF2B5EF4-FFF2-40B4-BE49-F238E27FC236}">
                <a16:creationId xmlns:a16="http://schemas.microsoft.com/office/drawing/2014/main" id="{5C8B9E0A-00BC-4A7C-8689-E2E8ADEC81E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93384" y="3522087"/>
            <a:ext cx="393378" cy="393378"/>
          </a:xfrm>
          <a:prstGeom prst="rect">
            <a:avLst/>
          </a:prstGeom>
        </p:spPr>
      </p:pic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C6A10F2-6297-46B0-8882-260F30CE24FE}"/>
              </a:ext>
            </a:extLst>
          </p:cNvPr>
          <p:cNvCxnSpPr>
            <a:stCxn id="12" idx="2"/>
            <a:endCxn id="63" idx="0"/>
          </p:cNvCxnSpPr>
          <p:nvPr/>
        </p:nvCxnSpPr>
        <p:spPr>
          <a:xfrm flipH="1">
            <a:off x="5688313" y="1430903"/>
            <a:ext cx="1311342" cy="11408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86D025B-6E89-4CF9-AD11-A490C2C94752}"/>
              </a:ext>
            </a:extLst>
          </p:cNvPr>
          <p:cNvCxnSpPr>
            <a:stCxn id="12" idx="2"/>
            <a:endCxn id="62" idx="0"/>
          </p:cNvCxnSpPr>
          <p:nvPr/>
        </p:nvCxnSpPr>
        <p:spPr>
          <a:xfrm flipH="1">
            <a:off x="6355457" y="1430903"/>
            <a:ext cx="644198" cy="11408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4056A3D-AE63-4266-A462-93E62E5F44DB}"/>
              </a:ext>
            </a:extLst>
          </p:cNvPr>
          <p:cNvSpPr txBox="1"/>
          <p:nvPr/>
        </p:nvSpPr>
        <p:spPr>
          <a:xfrm>
            <a:off x="7284910" y="1107705"/>
            <a:ext cx="51394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AMF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9D341C8-167B-44F5-B0FB-7D98B5ADAFA5}"/>
              </a:ext>
            </a:extLst>
          </p:cNvPr>
          <p:cNvSpPr txBox="1"/>
          <p:nvPr/>
        </p:nvSpPr>
        <p:spPr>
          <a:xfrm>
            <a:off x="5097664" y="3966529"/>
            <a:ext cx="6671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TA1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0DC11BD-9A87-4E01-9069-6D3DE7C2C504}"/>
              </a:ext>
            </a:extLst>
          </p:cNvPr>
          <p:cNvSpPr txBox="1"/>
          <p:nvPr/>
        </p:nvSpPr>
        <p:spPr>
          <a:xfrm>
            <a:off x="6545823" y="4028728"/>
            <a:ext cx="6671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TA2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5F32B7B0-2F61-A8D9-6A51-DE3A30A59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31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1790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97229-A20A-4397-972A-E3ED6759D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Paging Call Flow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D07146-A9E6-4519-97D4-81410306D170}"/>
              </a:ext>
            </a:extLst>
          </p:cNvPr>
          <p:cNvSpPr txBox="1"/>
          <p:nvPr/>
        </p:nvSpPr>
        <p:spPr>
          <a:xfrm>
            <a:off x="937071" y="989970"/>
            <a:ext cx="77081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FS PF BeauSans Pro SemiBold" panose="02000503000000020004"/>
              </a:rPr>
              <a:t>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AAB2B2-F7E0-44C6-B448-B6B96E5FE085}"/>
              </a:ext>
            </a:extLst>
          </p:cNvPr>
          <p:cNvSpPr txBox="1"/>
          <p:nvPr/>
        </p:nvSpPr>
        <p:spPr>
          <a:xfrm>
            <a:off x="4186591" y="989970"/>
            <a:ext cx="77081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FS PF BeauSans Pro SemiBold" panose="02000503000000020004"/>
              </a:rPr>
              <a:t>gNB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AC58D8-9995-43F8-9114-E519F33D8A5A}"/>
              </a:ext>
            </a:extLst>
          </p:cNvPr>
          <p:cNvSpPr txBox="1"/>
          <p:nvPr/>
        </p:nvSpPr>
        <p:spPr>
          <a:xfrm>
            <a:off x="7436112" y="989970"/>
            <a:ext cx="77081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FS PF BeauSans Pro SemiBold" panose="02000503000000020004"/>
              </a:rPr>
              <a:t>AMF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C70C1B5-0439-4B4D-BA55-B1D25402F232}"/>
              </a:ext>
            </a:extLst>
          </p:cNvPr>
          <p:cNvCxnSpPr>
            <a:stCxn id="10" idx="2"/>
          </p:cNvCxnSpPr>
          <p:nvPr/>
        </p:nvCxnSpPr>
        <p:spPr>
          <a:xfrm flipH="1">
            <a:off x="1322479" y="1290052"/>
            <a:ext cx="1" cy="31610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33FC62-306A-4525-9D46-526143F94206}"/>
              </a:ext>
            </a:extLst>
          </p:cNvPr>
          <p:cNvCxnSpPr>
            <a:stCxn id="11" idx="2"/>
          </p:cNvCxnSpPr>
          <p:nvPr/>
        </p:nvCxnSpPr>
        <p:spPr>
          <a:xfrm flipH="1">
            <a:off x="4571999" y="1290052"/>
            <a:ext cx="1" cy="31830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84451E-332E-47F5-9532-A6AB1B7558B8}"/>
              </a:ext>
            </a:extLst>
          </p:cNvPr>
          <p:cNvCxnSpPr>
            <a:stCxn id="12" idx="2"/>
          </p:cNvCxnSpPr>
          <p:nvPr/>
        </p:nvCxnSpPr>
        <p:spPr>
          <a:xfrm flipH="1">
            <a:off x="7821520" y="1290052"/>
            <a:ext cx="1" cy="31830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6DAECE5-02D3-489E-9798-CA8DC48615DE}"/>
              </a:ext>
            </a:extLst>
          </p:cNvPr>
          <p:cNvSpPr/>
          <p:nvPr/>
        </p:nvSpPr>
        <p:spPr>
          <a:xfrm>
            <a:off x="623456" y="1367821"/>
            <a:ext cx="1398045" cy="241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FS PF BeauSans Pro SemiBold" panose="02000503000000020004"/>
              </a:rPr>
              <a:t>Paging Occasion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42B571-E3EA-487A-AE3A-DE1617092346}"/>
              </a:ext>
            </a:extLst>
          </p:cNvPr>
          <p:cNvSpPr/>
          <p:nvPr/>
        </p:nvSpPr>
        <p:spPr>
          <a:xfrm>
            <a:off x="623456" y="1984142"/>
            <a:ext cx="1398045" cy="241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FS PF BeauSans Pro SemiBold" panose="02000503000000020004"/>
              </a:rPr>
              <a:t>Paging Occasion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CAD02F-36CA-4F38-AF71-469C77089888}"/>
              </a:ext>
            </a:extLst>
          </p:cNvPr>
          <p:cNvCxnSpPr>
            <a:cxnSpLocks/>
          </p:cNvCxnSpPr>
          <p:nvPr/>
        </p:nvCxnSpPr>
        <p:spPr>
          <a:xfrm flipH="1" flipV="1">
            <a:off x="2021501" y="2138847"/>
            <a:ext cx="255049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18C9B3D-498C-465C-9A3C-63C39D9F04C7}"/>
              </a:ext>
            </a:extLst>
          </p:cNvPr>
          <p:cNvCxnSpPr>
            <a:cxnSpLocks/>
          </p:cNvCxnSpPr>
          <p:nvPr/>
        </p:nvCxnSpPr>
        <p:spPr>
          <a:xfrm flipH="1" flipV="1">
            <a:off x="2021501" y="2031266"/>
            <a:ext cx="255049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C02ECF8-BED2-4F11-A584-70E07BFFBCAE}"/>
              </a:ext>
            </a:extLst>
          </p:cNvPr>
          <p:cNvSpPr txBox="1"/>
          <p:nvPr/>
        </p:nvSpPr>
        <p:spPr>
          <a:xfrm>
            <a:off x="2229322" y="1791015"/>
            <a:ext cx="225954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FS PF BeauSans Pro SemiBold" panose="02000503000000020004"/>
              </a:rPr>
              <a:t>PDCCH with P-RNTI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08807B-F1DD-4426-BA7C-6A3E1914F92B}"/>
              </a:ext>
            </a:extLst>
          </p:cNvPr>
          <p:cNvSpPr txBox="1"/>
          <p:nvPr/>
        </p:nvSpPr>
        <p:spPr>
          <a:xfrm>
            <a:off x="1322478" y="3013556"/>
            <a:ext cx="225954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FS PF BeauSans Pro SemiBold" panose="02000503000000020004"/>
              </a:rPr>
              <a:t>RRC Setup Request</a:t>
            </a:r>
          </a:p>
          <a:p>
            <a:r>
              <a:rPr lang="en-US">
                <a:latin typeface="FS PF BeauSans Pro SemiBold" panose="02000503000000020004"/>
              </a:rPr>
              <a:t>(CCCH/UL-SCH/PUSCH)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69CFB1-5F90-4854-967A-43F05F47787A}"/>
              </a:ext>
            </a:extLst>
          </p:cNvPr>
          <p:cNvSpPr/>
          <p:nvPr/>
        </p:nvSpPr>
        <p:spPr>
          <a:xfrm>
            <a:off x="623456" y="2743200"/>
            <a:ext cx="4629264" cy="2306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FS PF BeauSans Pro SemiBold" panose="02000503000000020004"/>
              </a:rPr>
              <a:t>Random Access Procedure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614803A-8AE4-4D2E-A09D-3BE97D5B5664}"/>
              </a:ext>
            </a:extLst>
          </p:cNvPr>
          <p:cNvCxnSpPr/>
          <p:nvPr/>
        </p:nvCxnSpPr>
        <p:spPr>
          <a:xfrm>
            <a:off x="1322479" y="3249521"/>
            <a:ext cx="32495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D36BC27-814F-4E3B-AA14-F24520DD0406}"/>
              </a:ext>
            </a:extLst>
          </p:cNvPr>
          <p:cNvCxnSpPr>
            <a:cxnSpLocks/>
          </p:cNvCxnSpPr>
          <p:nvPr/>
        </p:nvCxnSpPr>
        <p:spPr>
          <a:xfrm flipH="1">
            <a:off x="1313329" y="3733171"/>
            <a:ext cx="32495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79BDBC0-E383-46AE-84D6-734361465F38}"/>
              </a:ext>
            </a:extLst>
          </p:cNvPr>
          <p:cNvSpPr txBox="1"/>
          <p:nvPr/>
        </p:nvSpPr>
        <p:spPr>
          <a:xfrm>
            <a:off x="2236078" y="3490139"/>
            <a:ext cx="2259545" cy="5078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>
                <a:latin typeface="FS PF BeauSans Pro SemiBold" panose="02000503000000020004"/>
              </a:rPr>
              <a:t>RRC Setup</a:t>
            </a:r>
          </a:p>
          <a:p>
            <a:pPr algn="r"/>
            <a:r>
              <a:rPr lang="en-US">
                <a:latin typeface="FS PF BeauSans Pro SemiBold" panose="02000503000000020004"/>
              </a:rPr>
              <a:t>(CCCH/DL-SCH/PDSCH)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1BF63B-6E7C-4C7E-BBE0-C2E88ED583CC}"/>
              </a:ext>
            </a:extLst>
          </p:cNvPr>
          <p:cNvSpPr txBox="1"/>
          <p:nvPr/>
        </p:nvSpPr>
        <p:spPr>
          <a:xfrm>
            <a:off x="1322478" y="3906444"/>
            <a:ext cx="225954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FS PF BeauSans Pro SemiBold" panose="02000503000000020004"/>
              </a:rPr>
              <a:t>RRC Setup Complete</a:t>
            </a:r>
          </a:p>
          <a:p>
            <a:r>
              <a:rPr lang="en-US">
                <a:latin typeface="FS PF BeauSans Pro SemiBold" panose="02000503000000020004"/>
              </a:rPr>
              <a:t>(DCCH/UL-SCH/PUSCH)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351D209-9CCD-4965-9AEF-616845192435}"/>
              </a:ext>
            </a:extLst>
          </p:cNvPr>
          <p:cNvCxnSpPr/>
          <p:nvPr/>
        </p:nvCxnSpPr>
        <p:spPr>
          <a:xfrm>
            <a:off x="1322479" y="4142409"/>
            <a:ext cx="32495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9DBBB4C-27EC-4FB3-AEBB-8D14446D1167}"/>
              </a:ext>
            </a:extLst>
          </p:cNvPr>
          <p:cNvCxnSpPr>
            <a:cxnSpLocks/>
          </p:cNvCxnSpPr>
          <p:nvPr/>
        </p:nvCxnSpPr>
        <p:spPr>
          <a:xfrm flipH="1">
            <a:off x="4578755" y="1642512"/>
            <a:ext cx="3242763" cy="220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0AE6D3A-8E97-4CDE-958B-F9E056E7D725}"/>
              </a:ext>
            </a:extLst>
          </p:cNvPr>
          <p:cNvCxnSpPr>
            <a:cxnSpLocks/>
          </p:cNvCxnSpPr>
          <p:nvPr/>
        </p:nvCxnSpPr>
        <p:spPr>
          <a:xfrm>
            <a:off x="4578755" y="4264502"/>
            <a:ext cx="3242763" cy="220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0CFAFAF-93DB-4F04-B210-5742D8C147E1}"/>
              </a:ext>
            </a:extLst>
          </p:cNvPr>
          <p:cNvSpPr txBox="1"/>
          <p:nvPr/>
        </p:nvSpPr>
        <p:spPr>
          <a:xfrm>
            <a:off x="4655132" y="4009219"/>
            <a:ext cx="211974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FS PF BeauSans Pro SemiBold" panose="02000503000000020004"/>
              </a:rPr>
              <a:t>NGAP: Initial UE Message / Service Request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704599-65A1-491F-91A3-18F3C6709992}"/>
              </a:ext>
            </a:extLst>
          </p:cNvPr>
          <p:cNvSpPr txBox="1"/>
          <p:nvPr/>
        </p:nvSpPr>
        <p:spPr>
          <a:xfrm>
            <a:off x="7919763" y="1410632"/>
            <a:ext cx="71791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FS PF BeauSans Pro SemiBold" panose="02000503000000020004"/>
              </a:rPr>
              <a:t>T3513</a:t>
            </a:r>
          </a:p>
          <a:p>
            <a:r>
              <a:rPr lang="en-US">
                <a:latin typeface="FS PF BeauSans Pro SemiBold" panose="02000503000000020004"/>
              </a:rPr>
              <a:t>Start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0BE048-BCEC-4321-B554-F373089D4FD4}"/>
              </a:ext>
            </a:extLst>
          </p:cNvPr>
          <p:cNvSpPr txBox="1"/>
          <p:nvPr/>
        </p:nvSpPr>
        <p:spPr>
          <a:xfrm>
            <a:off x="7919763" y="4021604"/>
            <a:ext cx="71791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FS PF BeauSans Pro SemiBold" panose="02000503000000020004"/>
              </a:rPr>
              <a:t>T3513</a:t>
            </a:r>
          </a:p>
          <a:p>
            <a:r>
              <a:rPr lang="en-US">
                <a:latin typeface="FS PF BeauSans Pro SemiBold" panose="02000503000000020004"/>
              </a:rPr>
              <a:t>Stop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665FBA6-64E8-482B-A7AE-5F7ABCF6130E}"/>
              </a:ext>
            </a:extLst>
          </p:cNvPr>
          <p:cNvCxnSpPr/>
          <p:nvPr/>
        </p:nvCxnSpPr>
        <p:spPr>
          <a:xfrm>
            <a:off x="717920" y="1609646"/>
            <a:ext cx="0" cy="3744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568B966-1280-4F90-B939-3C22E5537C42}"/>
              </a:ext>
            </a:extLst>
          </p:cNvPr>
          <p:cNvSpPr txBox="1"/>
          <p:nvPr/>
        </p:nvSpPr>
        <p:spPr>
          <a:xfrm>
            <a:off x="257763" y="1323057"/>
            <a:ext cx="392415" cy="93591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>
                <a:latin typeface="FS PF BeauSans Pro SemiBold" panose="02000503000000020004"/>
              </a:rPr>
              <a:t>DRX Cycle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D20ABF-603B-4806-B279-BA7DD6D7116F}"/>
              </a:ext>
            </a:extLst>
          </p:cNvPr>
          <p:cNvSpPr txBox="1"/>
          <p:nvPr/>
        </p:nvSpPr>
        <p:spPr>
          <a:xfrm>
            <a:off x="2315831" y="2095504"/>
            <a:ext cx="225954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FS PF BeauSans Pro SemiBold" panose="02000503000000020004"/>
              </a:rPr>
              <a:t>RRC: Paging</a:t>
            </a:r>
          </a:p>
          <a:p>
            <a:pPr algn="r"/>
            <a:r>
              <a:rPr lang="en-US" dirty="0">
                <a:latin typeface="FS PF BeauSans Pro SemiBold" panose="02000503000000020004"/>
              </a:rPr>
              <a:t>(PCCH/PCH/PDSCH)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8798C9-6547-99B0-91F9-9DB3B1786678}"/>
              </a:ext>
            </a:extLst>
          </p:cNvPr>
          <p:cNvSpPr txBox="1"/>
          <p:nvPr/>
        </p:nvSpPr>
        <p:spPr>
          <a:xfrm>
            <a:off x="5618643" y="1364465"/>
            <a:ext cx="139005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FS PF BeauSans Pro SemiBold" panose="02000503000000020004"/>
              </a:rPr>
              <a:t>NgAP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FS PF BeauSans Pro SemiBold" panose="02000503000000020004"/>
              </a:rPr>
              <a:t> Paging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CB4B2B8-7112-2A6E-A9B2-9B28CA84E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32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5651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20704-A706-4947-B7F0-A1902B466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3GPP – Paging document	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353D7BD-7EC6-4F38-BB7A-C9EDE8185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638933"/>
              </p:ext>
            </p:extLst>
          </p:nvPr>
        </p:nvGraphicFramePr>
        <p:xfrm>
          <a:off x="628650" y="1519402"/>
          <a:ext cx="7886701" cy="25146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59986">
                  <a:extLst>
                    <a:ext uri="{9D8B030D-6E8A-4147-A177-3AD203B41FA5}">
                      <a16:colId xmlns:a16="http://schemas.microsoft.com/office/drawing/2014/main" val="3849600914"/>
                    </a:ext>
                  </a:extLst>
                </a:gridCol>
                <a:gridCol w="3671641">
                  <a:extLst>
                    <a:ext uri="{9D8B030D-6E8A-4147-A177-3AD203B41FA5}">
                      <a16:colId xmlns:a16="http://schemas.microsoft.com/office/drawing/2014/main" val="3790124000"/>
                    </a:ext>
                  </a:extLst>
                </a:gridCol>
                <a:gridCol w="3155074">
                  <a:extLst>
                    <a:ext uri="{9D8B030D-6E8A-4147-A177-3AD203B41FA5}">
                      <a16:colId xmlns:a16="http://schemas.microsoft.com/office/drawing/2014/main" val="157015322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 defTabSz="685800" rtl="0" eaLnBrk="1" fontAlgn="t" latinLnBrk="0" hangingPunct="1">
                        <a:tabLst>
                          <a:tab pos="0" algn="l"/>
                        </a:tabLs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latin typeface="FS PF BeauSans Pro" panose="02000500000000020004" pitchFamily="2" charset="0"/>
                          <a:ea typeface="+mn-ea"/>
                          <a:cs typeface="+mn-cs"/>
                        </a:rPr>
                        <a:t>TS 38.331</a:t>
                      </a:r>
                    </a:p>
                  </a:txBody>
                  <a:tcPr marL="14288" marR="14288" marT="14288" marB="14288" anchor="ctr"/>
                </a:tc>
                <a:tc>
                  <a:txBody>
                    <a:bodyPr/>
                    <a:lstStyle/>
                    <a:p>
                      <a:pPr marL="87313" indent="0" algn="l" defTabSz="685800" rtl="0" eaLnBrk="1" fontAlgn="t" latinLnBrk="0" hangingPunct="1">
                        <a:tabLst>
                          <a:tab pos="87313" algn="l"/>
                        </a:tabLst>
                      </a:pPr>
                      <a:r>
                        <a:rPr lang="en-US" sz="1200" b="0" kern="1200" dirty="0">
                          <a:solidFill>
                            <a:srgbClr val="000000"/>
                          </a:solidFill>
                          <a:latin typeface="FS PF BeauSans Pro" panose="02000500000000020004" pitchFamily="2" charset="0"/>
                          <a:ea typeface="+mn-ea"/>
                          <a:cs typeface="+mn-cs"/>
                        </a:rPr>
                        <a:t>5G; NR; Radio Resource Control (RRC); Protocol specification</a:t>
                      </a:r>
                    </a:p>
                  </a:txBody>
                  <a:tcPr marL="14288" marR="14288" marT="14288" marB="14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87313" indent="0" algn="l" defTabSz="685800" rtl="0" eaLnBrk="1" fontAlgn="t" latinLnBrk="0" hangingPunct="1">
                        <a:tabLst>
                          <a:tab pos="87313" algn="l"/>
                        </a:tabLst>
                      </a:pPr>
                      <a:r>
                        <a:rPr lang="en-US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FS PF BeauSans Pro" panose="02000500000000020004" pitchFamily="2" charset="0"/>
                          <a:ea typeface="+mn-ea"/>
                          <a:cs typeface="+mn-cs"/>
                        </a:rPr>
                        <a:t>RRC Paging Procedure</a:t>
                      </a:r>
                    </a:p>
                  </a:txBody>
                  <a:tcPr marL="14288" marR="14288" marT="14288" marB="14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69214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 defTabSz="685800" rtl="0" eaLnBrk="1" fontAlgn="t" latinLnBrk="0" hangingPunct="1"/>
                      <a:r>
                        <a:rPr lang="en-US" sz="1200" b="1" kern="1200" dirty="0">
                          <a:solidFill>
                            <a:srgbClr val="000000"/>
                          </a:solidFill>
                          <a:latin typeface="FS PF BeauSans Pro" panose="02000500000000020004" pitchFamily="2" charset="0"/>
                          <a:ea typeface="+mn-ea"/>
                          <a:cs typeface="+mn-cs"/>
                        </a:rPr>
                        <a:t>TS 38.413</a:t>
                      </a:r>
                    </a:p>
                  </a:txBody>
                  <a:tcPr marL="14288" marR="14288" marT="14288" marB="14288" anchor="ctr"/>
                </a:tc>
                <a:tc>
                  <a:txBody>
                    <a:bodyPr/>
                    <a:lstStyle/>
                    <a:p>
                      <a:pPr marL="87313" indent="0" algn="l" defTabSz="685800" rtl="0" eaLnBrk="1" fontAlgn="t" latinLnBrk="0" hangingPunct="1"/>
                      <a:r>
                        <a:rPr lang="en-US" sz="1200" b="0" kern="1200" dirty="0">
                          <a:solidFill>
                            <a:srgbClr val="000000"/>
                          </a:solidFill>
                          <a:latin typeface="FS PF BeauSans Pro" panose="02000500000000020004" pitchFamily="2" charset="0"/>
                          <a:ea typeface="+mn-ea"/>
                          <a:cs typeface="+mn-cs"/>
                        </a:rPr>
                        <a:t>5G; NG-RAN; NG Application Protocol (NGAP) </a:t>
                      </a:r>
                    </a:p>
                  </a:txBody>
                  <a:tcPr marL="14288" marR="14288" marT="14288" marB="14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87313" indent="0" algn="l" defTabSz="685800" rtl="0" eaLnBrk="1" fontAlgn="t" latinLnBrk="0" hangingPunct="1"/>
                      <a:r>
                        <a:rPr lang="en-US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FS PF BeauSans Pro" panose="02000500000000020004" pitchFamily="2" charset="0"/>
                          <a:ea typeface="+mn-ea"/>
                          <a:cs typeface="+mn-cs"/>
                        </a:rPr>
                        <a:t>NGAP Paging Procedure</a:t>
                      </a:r>
                    </a:p>
                  </a:txBody>
                  <a:tcPr marL="14288" marR="14288" marT="14288" marB="14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91023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 defTabSz="685800" rtl="0" eaLnBrk="1" fontAlgn="t" latinLnBrk="0" hangingPunct="1">
                        <a:tabLst>
                          <a:tab pos="0" algn="l"/>
                        </a:tabLs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latin typeface="FS PF BeauSans Pro" panose="02000500000000020004" pitchFamily="2" charset="0"/>
                          <a:ea typeface="+mn-ea"/>
                          <a:cs typeface="+mn-cs"/>
                        </a:rPr>
                        <a:t>TS 38.423</a:t>
                      </a:r>
                    </a:p>
                  </a:txBody>
                  <a:tcPr marL="14288" marR="14288" marT="14288" marB="14288" anchor="ctr"/>
                </a:tc>
                <a:tc>
                  <a:txBody>
                    <a:bodyPr/>
                    <a:lstStyle/>
                    <a:p>
                      <a:pPr marL="87313" indent="0" algn="l" defTabSz="685800" rtl="0" eaLnBrk="1" fontAlgn="t" latinLnBrk="0" hangingPunct="1"/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FS PF BeauSans Pro" panose="02000500000000020004"/>
                          <a:ea typeface="+mn-ea"/>
                          <a:cs typeface="+mn-cs"/>
                        </a:rPr>
                        <a:t>5G; NG-RAN; Xn Application Protocol (</a:t>
                      </a:r>
                      <a:r>
                        <a:rPr 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FS PF BeauSans Pro" panose="02000500000000020004"/>
                          <a:ea typeface="+mn-ea"/>
                          <a:cs typeface="+mn-cs"/>
                        </a:rPr>
                        <a:t>XnAP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FS PF BeauSans Pro" panose="02000500000000020004"/>
                          <a:ea typeface="+mn-ea"/>
                          <a:cs typeface="+mn-cs"/>
                        </a:rPr>
                        <a:t>)</a:t>
                      </a:r>
                      <a:r>
                        <a:rPr lang="en-US" sz="1200" b="0" dirty="0">
                          <a:latin typeface="FS PF BeauSans Pro" panose="02000500000000020004"/>
                        </a:rPr>
                        <a:t> </a:t>
                      </a:r>
                      <a:endParaRPr lang="en-US" sz="1200" b="0" kern="1200" dirty="0">
                        <a:solidFill>
                          <a:srgbClr val="000000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14288" marR="14288" marT="14288" marB="14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87313" indent="0" algn="l" defTabSz="685800" rtl="0" eaLnBrk="1" fontAlgn="t" latinLnBrk="0" hangingPunct="1"/>
                      <a:r>
                        <a:rPr lang="en-US" sz="1200" b="0" kern="1200" dirty="0" err="1">
                          <a:solidFill>
                            <a:srgbClr val="000000"/>
                          </a:solidFill>
                          <a:latin typeface="FS PF BeauSans Pro" panose="02000500000000020004" pitchFamily="2" charset="0"/>
                          <a:ea typeface="+mn-ea"/>
                          <a:cs typeface="+mn-cs"/>
                        </a:rPr>
                        <a:t>XnAP</a:t>
                      </a:r>
                      <a:r>
                        <a:rPr lang="en-US" sz="1200" b="0" kern="1200" dirty="0">
                          <a:solidFill>
                            <a:srgbClr val="000000"/>
                          </a:solidFill>
                          <a:latin typeface="FS PF BeauSans Pro" panose="02000500000000020004" pitchFamily="2" charset="0"/>
                          <a:ea typeface="+mn-ea"/>
                          <a:cs typeface="+mn-cs"/>
                        </a:rPr>
                        <a:t> Paging Procedure</a:t>
                      </a:r>
                    </a:p>
                  </a:txBody>
                  <a:tcPr marL="14288" marR="14288" marT="14288" marB="14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7525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 defTabSz="685800" rtl="0" eaLnBrk="1" fontAlgn="t" latinLnBrk="0" hangingPunct="1">
                        <a:tabLst>
                          <a:tab pos="0" algn="l"/>
                        </a:tabLs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latin typeface="FS PF BeauSans Pro" panose="02000500000000020004" pitchFamily="2" charset="0"/>
                          <a:ea typeface="+mn-ea"/>
                          <a:cs typeface="+mn-cs"/>
                        </a:rPr>
                        <a:t>TS</a:t>
                      </a:r>
                      <a:r>
                        <a:rPr lang="en-US" sz="1200" b="1" kern="1200" baseline="0" dirty="0">
                          <a:solidFill>
                            <a:srgbClr val="000000"/>
                          </a:solidFill>
                          <a:latin typeface="FS PF BeauSans Pro" panose="02000500000000020004" pitchFamily="2" charset="0"/>
                          <a:ea typeface="+mn-ea"/>
                          <a:cs typeface="+mn-cs"/>
                        </a:rPr>
                        <a:t> 38.304</a:t>
                      </a:r>
                      <a:endParaRPr lang="en-US" sz="1200" b="1" kern="1200" dirty="0">
                        <a:solidFill>
                          <a:srgbClr val="000000"/>
                        </a:solidFill>
                        <a:latin typeface="FS PF BeauSans Pro" panose="02000500000000020004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kern="1200" dirty="0">
                          <a:solidFill>
                            <a:srgbClr val="000000"/>
                          </a:solidFill>
                          <a:latin typeface="FS PF BeauSans Pro" panose="02000500000000020004" pitchFamily="2" charset="0"/>
                          <a:ea typeface="+mn-ea"/>
                          <a:cs typeface="+mn-cs"/>
                        </a:rPr>
                        <a:t>5G; NR; User Equipment (UE) procedures in idle mode and in RRC Inactive state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kern="1200" dirty="0">
                          <a:solidFill>
                            <a:srgbClr val="000000"/>
                          </a:solidFill>
                          <a:latin typeface="FS PF BeauSans Pro" panose="02000500000000020004" pitchFamily="2" charset="0"/>
                          <a:ea typeface="+mn-ea"/>
                          <a:cs typeface="+mn-cs"/>
                        </a:rPr>
                        <a:t>Discontinuous Reception for paging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21586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 defTabSz="685800" rtl="0" eaLnBrk="1" fontAlgn="t" latinLnBrk="0" hangingPunct="1">
                        <a:tabLst>
                          <a:tab pos="0" algn="l"/>
                        </a:tabLs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latin typeface="FS PF BeauSans Pro" panose="02000500000000020004" pitchFamily="2" charset="0"/>
                          <a:ea typeface="+mn-ea"/>
                          <a:cs typeface="+mn-cs"/>
                        </a:rPr>
                        <a:t>TS 38.213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kern="1200" dirty="0">
                          <a:solidFill>
                            <a:srgbClr val="000000"/>
                          </a:solidFill>
                          <a:latin typeface="FS PF BeauSans Pro" panose="02000500000000020004" pitchFamily="2" charset="0"/>
                          <a:ea typeface="+mn-ea"/>
                          <a:cs typeface="+mn-cs"/>
                        </a:rPr>
                        <a:t>5G; NR; Physical layer procedures for control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kern="1200" dirty="0">
                          <a:solidFill>
                            <a:srgbClr val="000000"/>
                          </a:solidFill>
                          <a:latin typeface="FS PF BeauSans Pro" panose="02000500000000020004" pitchFamily="2" charset="0"/>
                          <a:ea typeface="+mn-ea"/>
                          <a:cs typeface="+mn-cs"/>
                        </a:rPr>
                        <a:t>PDCCH Paging Search Space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98567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111779-3986-8EC5-5CE8-94C1AA106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33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4571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20704-A706-4947-B7F0-A1902B466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3GPP – </a:t>
            </a:r>
            <a:r>
              <a:rPr lang="en-US" dirty="0" err="1"/>
              <a:t>NgAP</a:t>
            </a:r>
            <a:r>
              <a:rPr lang="en-US" dirty="0"/>
              <a:t> Paging message	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C687DC-B6E7-41EF-9749-B1737C02A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094253"/>
              </p:ext>
            </p:extLst>
          </p:nvPr>
        </p:nvGraphicFramePr>
        <p:xfrm>
          <a:off x="628650" y="1063120"/>
          <a:ext cx="7886700" cy="3395056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2626350590"/>
                    </a:ext>
                  </a:extLst>
                </a:gridCol>
                <a:gridCol w="1380468">
                  <a:extLst>
                    <a:ext uri="{9D8B030D-6E8A-4147-A177-3AD203B41FA5}">
                      <a16:colId xmlns:a16="http://schemas.microsoft.com/office/drawing/2014/main" val="847729167"/>
                    </a:ext>
                  </a:extLst>
                </a:gridCol>
                <a:gridCol w="591207">
                  <a:extLst>
                    <a:ext uri="{9D8B030D-6E8A-4147-A177-3AD203B41FA5}">
                      <a16:colId xmlns:a16="http://schemas.microsoft.com/office/drawing/2014/main" val="333274264"/>
                    </a:ext>
                  </a:extLst>
                </a:gridCol>
                <a:gridCol w="1481959">
                  <a:extLst>
                    <a:ext uri="{9D8B030D-6E8A-4147-A177-3AD203B41FA5}">
                      <a16:colId xmlns:a16="http://schemas.microsoft.com/office/drawing/2014/main" val="1427064648"/>
                    </a:ext>
                  </a:extLst>
                </a:gridCol>
                <a:gridCol w="2461391">
                  <a:extLst>
                    <a:ext uri="{9D8B030D-6E8A-4147-A177-3AD203B41FA5}">
                      <a16:colId xmlns:a16="http://schemas.microsoft.com/office/drawing/2014/main" val="1043685677"/>
                    </a:ext>
                  </a:extLst>
                </a:gridCol>
              </a:tblGrid>
              <a:tr h="185203">
                <a:tc gridSpan="5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kern="1200" dirty="0">
                          <a:latin typeface="FS PF BeauSans Pro" panose="02000500000000020004"/>
                        </a:rPr>
                        <a:t>NGAP: Paging &lt;TS 38.413&gt;</a:t>
                      </a: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339322"/>
                  </a:ext>
                </a:extLst>
              </a:tr>
              <a:tr h="340517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1" kern="1200" dirty="0">
                          <a:latin typeface="FS PF BeauSans Pro" panose="02000500000000020004"/>
                        </a:rPr>
                        <a:t>UE Paging </a:t>
                      </a:r>
                      <a:r>
                        <a:rPr lang="en-US" sz="1350" b="1" kern="1200">
                          <a:latin typeface="FS PF BeauSans Pro" panose="02000500000000020004"/>
                        </a:rPr>
                        <a:t>Identity (Mandatory)</a:t>
                      </a:r>
                      <a:endParaRPr lang="en-US" sz="1350" b="1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>
                    <a:solidFill>
                      <a:srgbClr val="F6CCCB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kern="1200" dirty="0">
                          <a:latin typeface="FS PF BeauSans Pro" panose="02000500000000020004"/>
                        </a:rPr>
                        <a:t>5G-S-TMSI</a:t>
                      </a: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 pitchFamily="2" charset="0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/>
                </a:tc>
                <a:tc gridSpan="2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kern="1200" dirty="0">
                          <a:latin typeface="FS PF BeauSans Pro" panose="02000500000000020004"/>
                        </a:rPr>
                        <a:t>AMF Set ID &amp; AMF Pointer &amp; 5G-TMSI</a:t>
                      </a: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641851"/>
                  </a:ext>
                </a:extLst>
              </a:tr>
              <a:tr h="185203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1" kern="1200" dirty="0">
                          <a:latin typeface="FS PF BeauSans Pro" panose="02000500000000020004"/>
                        </a:rPr>
                        <a:t>Paging DRX</a:t>
                      </a:r>
                      <a:endParaRPr lang="en-US" sz="1350" b="1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>
                    <a:solidFill>
                      <a:srgbClr val="F6CCCB"/>
                    </a:solidFill>
                  </a:tcPr>
                </a:tc>
                <a:tc gridSpan="4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kern="1200" dirty="0">
                          <a:latin typeface="FS PF BeauSans Pro" panose="02000500000000020004"/>
                        </a:rPr>
                        <a:t>32, 64, 128, 256</a:t>
                      </a: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459650"/>
                  </a:ext>
                </a:extLst>
              </a:tr>
              <a:tr h="185203">
                <a:tc rowSpan="2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1" kern="1200" dirty="0">
                          <a:latin typeface="FS PF BeauSans Pro" panose="02000500000000020004"/>
                        </a:rPr>
                        <a:t>TAI List for Paging (Mandatory)</a:t>
                      </a:r>
                      <a:endParaRPr lang="en-US" sz="1350" b="1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>
                    <a:solidFill>
                      <a:srgbClr val="F6CCCB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kern="1200" dirty="0">
                          <a:latin typeface="FS PF BeauSans Pro" panose="02000500000000020004"/>
                        </a:rPr>
                        <a:t>SEQUENCE {1 to 16 instances}</a:t>
                      </a: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161266"/>
                  </a:ext>
                </a:extLst>
              </a:tr>
              <a:tr h="1852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kern="1200" dirty="0">
                          <a:latin typeface="FS PF BeauSans Pro" panose="02000500000000020004"/>
                        </a:rPr>
                        <a:t>Tracking Area ID</a:t>
                      </a: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 pitchFamily="2" charset="0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/>
                </a:tc>
                <a:tc gridSpan="2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kern="1200" dirty="0">
                          <a:latin typeface="FS PF BeauSans Pro" panose="02000500000000020004"/>
                        </a:rPr>
                        <a:t>PLMN Id &amp; Tracking Area Code (TAC)</a:t>
                      </a: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564441"/>
                  </a:ext>
                </a:extLst>
              </a:tr>
              <a:tr h="185203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1" kern="1200" dirty="0">
                          <a:latin typeface="FS PF BeauSans Pro" panose="02000500000000020004"/>
                        </a:rPr>
                        <a:t>Paging Priority</a:t>
                      </a:r>
                      <a:endParaRPr lang="en-US" sz="1350" b="1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>
                    <a:solidFill>
                      <a:srgbClr val="F6CCCB"/>
                    </a:solidFill>
                  </a:tcPr>
                </a:tc>
                <a:tc gridSpan="4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kern="1200" dirty="0">
                          <a:latin typeface="FS PF BeauSans Pro" panose="02000500000000020004"/>
                        </a:rPr>
                        <a:t>1, 2, 3, 4, 5, 6, 7, 8</a:t>
                      </a: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529821"/>
                  </a:ext>
                </a:extLst>
              </a:tr>
              <a:tr h="185203">
                <a:tc rowSpan="4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1" kern="1200" dirty="0">
                          <a:latin typeface="FS PF BeauSans Pro" panose="02000500000000020004"/>
                        </a:rPr>
                        <a:t>UE Radio Capability for Paging</a:t>
                      </a:r>
                      <a:endParaRPr lang="en-US" sz="1350" b="1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>
                    <a:solidFill>
                      <a:srgbClr val="F6CCCB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kern="1200" dirty="0">
                          <a:latin typeface="FS PF BeauSans Pro" panose="02000500000000020004"/>
                        </a:rPr>
                        <a:t>Capability for NR</a:t>
                      </a: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kern="1200" dirty="0">
                          <a:latin typeface="FS PF BeauSans Pro" panose="02000500000000020004"/>
                        </a:rPr>
                        <a:t>List of Supported NR Bands</a:t>
                      </a: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kern="1200" dirty="0"/>
                        <a:t>List of Supported NR Bands</a:t>
                      </a: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 pitchFamily="2" charset="0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kern="1200" dirty="0">
                          <a:latin typeface="FS PF BeauSans Pro" panose="02000500000000020004"/>
                        </a:rPr>
                        <a:t>SEQUENCE {1 to 1024 instance}</a:t>
                      </a: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422437"/>
                  </a:ext>
                </a:extLst>
              </a:tr>
              <a:tr h="1852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kern="1200" dirty="0">
                          <a:latin typeface="FS PF BeauSans Pro" panose="02000500000000020004"/>
                        </a:rPr>
                        <a:t>1-1024</a:t>
                      </a: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585114"/>
                  </a:ext>
                </a:extLst>
              </a:tr>
              <a:tr h="185203">
                <a:tc vMerge="1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 pitchFamily="2" charset="0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/>
                </a:tc>
                <a:tc rowSpan="2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kern="1200" dirty="0">
                          <a:latin typeface="FS PF BeauSans Pro" panose="02000500000000020004"/>
                        </a:rPr>
                        <a:t>Capability for E-UTRA</a:t>
                      </a: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kern="1200" dirty="0">
                          <a:latin typeface="FS PF BeauSans Pro" panose="02000500000000020004"/>
                        </a:rPr>
                        <a:t>List of Supported E-UTRA Bands</a:t>
                      </a: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kern="1200" dirty="0"/>
                        <a:t>List of Supported E-UTRA Bands</a:t>
                      </a: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 pitchFamily="2" charset="0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kern="1200" dirty="0">
                          <a:latin typeface="FS PF BeauSans Pro" panose="02000500000000020004"/>
                        </a:rPr>
                        <a:t>SEQUENCE {1 to 64 instance}</a:t>
                      </a: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437434"/>
                  </a:ext>
                </a:extLst>
              </a:tr>
              <a:tr h="185203">
                <a:tc vMerge="1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 pitchFamily="2" charset="0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/>
                </a:tc>
                <a:tc vMerge="1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 pitchFamily="2" charset="0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 pitchFamily="2" charset="0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>
                          <a:latin typeface="FS PF BeauSans Pro" panose="02000500000000020004"/>
                        </a:rPr>
                        <a:t>1-256</a:t>
                      </a: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61700"/>
                  </a:ext>
                </a:extLst>
              </a:tr>
              <a:tr h="185203">
                <a:tc rowSpan="2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1" kern="1200" dirty="0">
                          <a:latin typeface="FS PF BeauSans Pro" panose="02000500000000020004"/>
                        </a:rPr>
                        <a:t>Assistance Data for Paging</a:t>
                      </a:r>
                      <a:endParaRPr lang="en-US" sz="1350" b="1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>
                    <a:solidFill>
                      <a:srgbClr val="F6CCCB"/>
                    </a:solidFill>
                  </a:tcPr>
                </a:tc>
                <a:tc gridSpan="4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kern="1200" dirty="0">
                          <a:latin typeface="FS PF BeauSans Pro" panose="02000500000000020004"/>
                        </a:rPr>
                        <a:t>Recommended Cells</a:t>
                      </a: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50" kern="1200" dirty="0">
                        <a:solidFill>
                          <a:srgbClr val="000000"/>
                        </a:solidFill>
                        <a:latin typeface="FS PF BeauSans Pro" panose="02000500000000020004" pitchFamily="2" charset="0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282349"/>
                  </a:ext>
                </a:extLst>
              </a:tr>
              <a:tr h="1852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kern="1200" dirty="0">
                          <a:latin typeface="FS PF BeauSans Pro" panose="02000500000000020004"/>
                        </a:rPr>
                        <a:t>Paging Attempt Info</a:t>
                      </a: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50" kern="1200" dirty="0">
                        <a:solidFill>
                          <a:srgbClr val="000000"/>
                        </a:solidFill>
                        <a:latin typeface="FS PF BeauSans Pro" panose="02000500000000020004" pitchFamily="2" charset="0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851859"/>
                  </a:ext>
                </a:extLst>
              </a:tr>
              <a:tr h="185203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1" kern="1200" dirty="0">
                          <a:latin typeface="FS PF BeauSans Pro" panose="02000500000000020004"/>
                        </a:rPr>
                        <a:t>Paging Origin</a:t>
                      </a:r>
                      <a:endParaRPr lang="en-US" sz="1350" b="1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>
                    <a:solidFill>
                      <a:srgbClr val="F6CCCB"/>
                    </a:solidFill>
                  </a:tcPr>
                </a:tc>
                <a:tc gridSpan="4"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kern="1200" dirty="0">
                          <a:latin typeface="FS PF BeauSans Pro" panose="02000500000000020004"/>
                        </a:rPr>
                        <a:t>Non-3GPP</a:t>
                      </a:r>
                      <a:endParaRPr lang="en-US" sz="1350" kern="1200" dirty="0">
                        <a:solidFill>
                          <a:srgbClr val="44494D"/>
                        </a:solidFill>
                        <a:latin typeface="FS PF BeauSans Pro" panose="02000500000000020004"/>
                        <a:ea typeface="+mn-ea"/>
                        <a:cs typeface="+mn-cs"/>
                      </a:endParaRPr>
                    </a:p>
                  </a:txBody>
                  <a:tcPr marL="39591" marR="39591" marT="19796" marB="1979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7812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218942-390A-6A32-B231-8DCB9C163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34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7804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20704-A706-4947-B7F0-A1902B466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3GPP – RRC Paging message	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C687DC-B6E7-41EF-9749-B1737C02A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439272"/>
              </p:ext>
            </p:extLst>
          </p:nvPr>
        </p:nvGraphicFramePr>
        <p:xfrm>
          <a:off x="628650" y="1268016"/>
          <a:ext cx="7886700" cy="1877217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712529">
                  <a:extLst>
                    <a:ext uri="{9D8B030D-6E8A-4147-A177-3AD203B41FA5}">
                      <a16:colId xmlns:a16="http://schemas.microsoft.com/office/drawing/2014/main" val="2626350590"/>
                    </a:ext>
                  </a:extLst>
                </a:gridCol>
                <a:gridCol w="1198180">
                  <a:extLst>
                    <a:ext uri="{9D8B030D-6E8A-4147-A177-3AD203B41FA5}">
                      <a16:colId xmlns:a16="http://schemas.microsoft.com/office/drawing/2014/main" val="847729167"/>
                    </a:ext>
                  </a:extLst>
                </a:gridCol>
                <a:gridCol w="1166648">
                  <a:extLst>
                    <a:ext uri="{9D8B030D-6E8A-4147-A177-3AD203B41FA5}">
                      <a16:colId xmlns:a16="http://schemas.microsoft.com/office/drawing/2014/main" val="333274264"/>
                    </a:ext>
                  </a:extLst>
                </a:gridCol>
                <a:gridCol w="1749972">
                  <a:extLst>
                    <a:ext uri="{9D8B030D-6E8A-4147-A177-3AD203B41FA5}">
                      <a16:colId xmlns:a16="http://schemas.microsoft.com/office/drawing/2014/main" val="1427064648"/>
                    </a:ext>
                  </a:extLst>
                </a:gridCol>
                <a:gridCol w="2059371">
                  <a:extLst>
                    <a:ext uri="{9D8B030D-6E8A-4147-A177-3AD203B41FA5}">
                      <a16:colId xmlns:a16="http://schemas.microsoft.com/office/drawing/2014/main" val="1043685677"/>
                    </a:ext>
                  </a:extLst>
                </a:gridCol>
              </a:tblGrid>
              <a:tr h="185203">
                <a:tc gridSpan="5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350" b="1" i="0" u="none" strike="noStrike">
                          <a:solidFill>
                            <a:srgbClr val="FFFFFF"/>
                          </a:solidFill>
                          <a:effectLst/>
                          <a:latin typeface="FS PF BeauSans Pro SemiBold" panose="02000503000000020004"/>
                          <a:cs typeface="Arial" panose="020B0604020202020204" pitchFamily="34" charset="0"/>
                        </a:rPr>
                        <a:t>RRC Paging &lt;3GPP TS 38.331&gt;</a:t>
                      </a:r>
                      <a:endParaRPr lang="nl-NL" sz="1350">
                        <a:effectLst/>
                        <a:latin typeface="FS PF BeauSans Pro SemiBold" panose="02000503000000020004"/>
                        <a:cs typeface="Arial" panose="020B0604020202020204" pitchFamily="34" charset="0"/>
                      </a:endParaRPr>
                    </a:p>
                  </a:txBody>
                  <a:tcPr marL="88900" marR="88900" marT="50800" marB="5080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339322"/>
                  </a:ext>
                </a:extLst>
              </a:tr>
              <a:tr h="340517">
                <a:tc rowSpan="5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1" i="0" u="none" strike="noStrike" dirty="0">
                          <a:solidFill>
                            <a:srgbClr val="000000"/>
                          </a:solidFill>
                          <a:effectLst/>
                          <a:latin typeface="FS PF BeauSans Pro SemiBold" panose="02000503000000020004"/>
                          <a:cs typeface="Arial" panose="020B0604020202020204" pitchFamily="34" charset="0"/>
                        </a:rPr>
                        <a:t>Paging Record List</a:t>
                      </a:r>
                      <a:endParaRPr lang="en-US" sz="1350" b="1" dirty="0">
                        <a:effectLst/>
                        <a:latin typeface="FS PF BeauSans Pro SemiBold" panose="02000503000000020004"/>
                        <a:cs typeface="Arial" panose="020B0604020202020204" pitchFamily="34" charset="0"/>
                      </a:endParaRPr>
                    </a:p>
                  </a:txBody>
                  <a:tcPr marL="88900" marR="88900" marT="50800" marB="50800" anchor="ctr">
                    <a:solidFill>
                      <a:srgbClr val="F6CCCB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0" i="0" u="none" strike="noStrike" dirty="0">
                          <a:solidFill>
                            <a:srgbClr val="000000"/>
                          </a:solidFill>
                          <a:effectLst/>
                          <a:latin typeface="FS PF BeauSans Pro SemiBold" panose="02000503000000020004"/>
                          <a:cs typeface="Arial" panose="020B0604020202020204" pitchFamily="34" charset="0"/>
                        </a:rPr>
                        <a:t>SEQUENCE {1 to 32 instances}</a:t>
                      </a:r>
                      <a:endParaRPr lang="en-US" sz="1350" dirty="0">
                        <a:effectLst/>
                        <a:latin typeface="FS PF BeauSans Pro SemiBold" panose="02000503000000020004"/>
                        <a:cs typeface="Arial" panose="020B0604020202020204" pitchFamily="34" charset="0"/>
                      </a:endParaRPr>
                    </a:p>
                  </a:txBody>
                  <a:tcPr marL="88900" marR="88900" marT="50800" marB="508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6CC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641851"/>
                  </a:ext>
                </a:extLst>
              </a:tr>
              <a:tr h="1852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6CCCB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S PF BeauSans Pro SemiBold" panose="02000503000000020004"/>
                          <a:cs typeface="Arial" panose="020B0604020202020204" pitchFamily="34" charset="0"/>
                        </a:rPr>
                        <a:t>PagingRecord</a:t>
                      </a:r>
                      <a:endParaRPr lang="en-US" sz="1350" dirty="0">
                        <a:effectLst/>
                        <a:latin typeface="FS PF BeauSans Pro SemiBold" panose="02000503000000020004"/>
                        <a:cs typeface="Arial" panose="020B0604020202020204" pitchFamily="34" charset="0"/>
                      </a:endParaRPr>
                    </a:p>
                  </a:txBody>
                  <a:tcPr marL="88900" marR="88900" marT="50800" marB="50800" anchor="ctr"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S PF BeauSans Pro SemiBold" panose="02000503000000020004"/>
                          <a:cs typeface="Arial" panose="020B0604020202020204" pitchFamily="34" charset="0"/>
                        </a:rPr>
                        <a:t>ue</a:t>
                      </a:r>
                      <a:r>
                        <a:rPr lang="en-US" sz="1350" b="0" i="0" u="none" strike="noStrike" dirty="0">
                          <a:solidFill>
                            <a:srgbClr val="000000"/>
                          </a:solidFill>
                          <a:effectLst/>
                          <a:latin typeface="FS PF BeauSans Pro SemiBold" panose="02000503000000020004"/>
                          <a:cs typeface="Arial" panose="020B0604020202020204" pitchFamily="34" charset="0"/>
                        </a:rPr>
                        <a:t>-Identity</a:t>
                      </a:r>
                      <a:endParaRPr lang="en-US" sz="1350" dirty="0">
                        <a:effectLst/>
                        <a:latin typeface="FS PF BeauSans Pro SemiBold" panose="02000503000000020004"/>
                        <a:cs typeface="Arial" panose="020B0604020202020204" pitchFamily="34" charset="0"/>
                      </a:endParaRPr>
                    </a:p>
                  </a:txBody>
                  <a:tcPr marL="88900" marR="88900" marT="50800" marB="5080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0" i="0" u="none" strike="noStrike" dirty="0">
                          <a:solidFill>
                            <a:srgbClr val="000000"/>
                          </a:solidFill>
                          <a:effectLst/>
                          <a:latin typeface="FS PF BeauSans Pro SemiBold" panose="02000503000000020004"/>
                          <a:cs typeface="Arial" panose="020B0604020202020204" pitchFamily="34" charset="0"/>
                        </a:rPr>
                        <a:t>CHOICE</a:t>
                      </a:r>
                      <a:endParaRPr lang="en-US" sz="1350" dirty="0">
                        <a:effectLst/>
                        <a:latin typeface="FS PF BeauSans Pro SemiBold" panose="02000503000000020004"/>
                        <a:cs typeface="Arial" panose="020B0604020202020204" pitchFamily="34" charset="0"/>
                      </a:endParaRPr>
                    </a:p>
                  </a:txBody>
                  <a:tcPr marL="88900" marR="88900" marT="50800" marB="508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459650"/>
                  </a:ext>
                </a:extLst>
              </a:tr>
              <a:tr h="1852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6CCC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6CCC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0" i="0" u="none" strike="noStrike" dirty="0">
                          <a:solidFill>
                            <a:srgbClr val="000000"/>
                          </a:solidFill>
                          <a:effectLst/>
                          <a:latin typeface="FS PF BeauSans Pro SemiBold" panose="02000503000000020004"/>
                          <a:cs typeface="Arial" panose="020B0604020202020204" pitchFamily="34" charset="0"/>
                        </a:rPr>
                        <a:t>ng-5G-S-TMSI</a:t>
                      </a:r>
                      <a:endParaRPr lang="en-US" sz="1350" dirty="0">
                        <a:effectLst/>
                        <a:latin typeface="FS PF BeauSans Pro SemiBold" panose="02000503000000020004"/>
                        <a:cs typeface="Arial" panose="020B0604020202020204" pitchFamily="34" charset="0"/>
                      </a:endParaRPr>
                    </a:p>
                  </a:txBody>
                  <a:tcPr marL="88900" marR="88900" marT="50800" marB="508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0" i="0" u="none" strike="noStrike" dirty="0">
                          <a:solidFill>
                            <a:srgbClr val="000000"/>
                          </a:solidFill>
                          <a:effectLst/>
                          <a:latin typeface="FS PF BeauSans Pro SemiBold" panose="02000503000000020004"/>
                        </a:rPr>
                        <a:t>Full I-RNTI</a:t>
                      </a:r>
                      <a:endParaRPr lang="en-US" sz="1350" dirty="0">
                        <a:effectLst/>
                        <a:latin typeface="FS PF BeauSans Pro SemiBold" panose="02000503000000020004"/>
                      </a:endParaRPr>
                    </a:p>
                  </a:txBody>
                  <a:tcPr marL="88900" marR="88900" marT="50800" marB="508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161266"/>
                  </a:ext>
                </a:extLst>
              </a:tr>
              <a:tr h="1852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6CCC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0" i="0" u="none" strike="noStrike" dirty="0">
                          <a:solidFill>
                            <a:srgbClr val="000000"/>
                          </a:solidFill>
                          <a:effectLst/>
                          <a:latin typeface="FS PF BeauSans Pro SemiBold" panose="02000503000000020004"/>
                          <a:cs typeface="Arial" panose="020B0604020202020204" pitchFamily="34" charset="0"/>
                        </a:rPr>
                        <a:t>BIT STRING {48 bit}</a:t>
                      </a:r>
                      <a:endParaRPr lang="en-US" sz="1350" dirty="0">
                        <a:effectLst/>
                        <a:latin typeface="FS PF BeauSans Pro SemiBold" panose="02000503000000020004"/>
                        <a:cs typeface="Arial" panose="020B0604020202020204" pitchFamily="34" charset="0"/>
                      </a:endParaRPr>
                    </a:p>
                  </a:txBody>
                  <a:tcPr marL="88900" marR="88900" marT="50800" marB="508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0" i="0" u="none" strike="noStrike" dirty="0">
                          <a:solidFill>
                            <a:srgbClr val="000000"/>
                          </a:solidFill>
                          <a:effectLst/>
                          <a:latin typeface="FS PF BeauSans Pro SemiBold" panose="02000503000000020004"/>
                        </a:rPr>
                        <a:t>BIT STRING {40 bit}</a:t>
                      </a:r>
                      <a:endParaRPr lang="en-US" sz="1350" dirty="0">
                        <a:effectLst/>
                        <a:latin typeface="FS PF BeauSans Pro SemiBold" panose="02000503000000020004"/>
                      </a:endParaRPr>
                    </a:p>
                  </a:txBody>
                  <a:tcPr marL="88900" marR="88900" marT="50800" marB="508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64441"/>
                  </a:ext>
                </a:extLst>
              </a:tr>
              <a:tr h="1852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6CCC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6CCCB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S PF BeauSans Pro SemiBold" panose="02000503000000020004"/>
                          <a:cs typeface="Arial" panose="020B0604020202020204" pitchFamily="34" charset="0"/>
                        </a:rPr>
                        <a:t>accessType</a:t>
                      </a:r>
                      <a:endParaRPr lang="en-US" sz="1350" dirty="0">
                        <a:effectLst/>
                        <a:latin typeface="FS PF BeauSans Pro SemiBold" panose="02000503000000020004"/>
                        <a:cs typeface="Arial" panose="020B0604020202020204" pitchFamily="34" charset="0"/>
                      </a:endParaRPr>
                    </a:p>
                  </a:txBody>
                  <a:tcPr marL="88900" marR="88900" marT="50800" marB="5080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0" i="0" u="none" strike="noStrike" dirty="0">
                          <a:solidFill>
                            <a:srgbClr val="000000"/>
                          </a:solidFill>
                          <a:effectLst/>
                          <a:latin typeface="FS PF BeauSans Pro SemiBold" panose="02000503000000020004"/>
                          <a:cs typeface="Arial" panose="020B0604020202020204" pitchFamily="34" charset="0"/>
                        </a:rPr>
                        <a:t>non3GPP</a:t>
                      </a:r>
                      <a:endParaRPr lang="en-US" sz="1350" dirty="0">
                        <a:effectLst/>
                        <a:latin typeface="FS PF BeauSans Pro SemiBold" panose="02000503000000020004"/>
                        <a:cs typeface="Arial" panose="020B0604020202020204" pitchFamily="34" charset="0"/>
                      </a:endParaRPr>
                    </a:p>
                  </a:txBody>
                  <a:tcPr marL="88900" marR="88900" marT="50800" marB="508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52982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9FF04F-6AE5-DCB6-00D7-487BDA44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35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4107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21058-2BC8-4E64-8A18-193534418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Paging Occasion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C4AE5-BF24-46E5-A3FF-EB8289F8AC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49" y="1268017"/>
            <a:ext cx="7886700" cy="153036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3"/>
                </a:solidFill>
              </a:rPr>
              <a:t>Paging Occasion (PO)</a:t>
            </a:r>
          </a:p>
          <a:p>
            <a:pPr marL="800100" lvl="1" indent="-285750"/>
            <a:r>
              <a:rPr lang="en-US"/>
              <a:t>A Subframe </a:t>
            </a:r>
            <a:r>
              <a:rPr lang="en-US" dirty="0"/>
              <a:t>when UE switch to active mode to check for Paging message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3"/>
                </a:solidFill>
              </a:rPr>
              <a:t>Paging Frame (PF)</a:t>
            </a:r>
            <a:endParaRPr lang="en-US" dirty="0">
              <a:solidFill>
                <a:schemeClr val="accent3"/>
              </a:solidFill>
            </a:endParaRPr>
          </a:p>
          <a:p>
            <a:pPr marL="800100" lvl="1" indent="-285750"/>
            <a:r>
              <a:rPr lang="en-US"/>
              <a:t>A Radio Frame may contain one or multiple PO(s)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3"/>
                </a:solidFill>
              </a:rPr>
              <a:t>DRX Cycle</a:t>
            </a:r>
            <a:endParaRPr lang="en-US" dirty="0">
              <a:solidFill>
                <a:schemeClr val="accent3"/>
              </a:solidFill>
            </a:endParaRPr>
          </a:p>
          <a:p>
            <a:pPr marL="800100" lvl="1" indent="-285750"/>
            <a:r>
              <a:rPr lang="en-US"/>
              <a:t>Period </a:t>
            </a:r>
            <a:r>
              <a:rPr lang="en-US" dirty="0"/>
              <a:t>between two </a:t>
            </a:r>
            <a:r>
              <a:rPr lang="en-US"/>
              <a:t>Paging Occasion (UE sleep mode duration)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2B2307-3FC6-44C7-842F-6375840D9223}"/>
              </a:ext>
            </a:extLst>
          </p:cNvPr>
          <p:cNvSpPr/>
          <p:nvPr/>
        </p:nvSpPr>
        <p:spPr>
          <a:xfrm>
            <a:off x="1070084" y="3255588"/>
            <a:ext cx="6981619" cy="41719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0EC6C6-F3D9-4BC6-BB28-9C962FD50982}"/>
              </a:ext>
            </a:extLst>
          </p:cNvPr>
          <p:cNvSpPr/>
          <p:nvPr/>
        </p:nvSpPr>
        <p:spPr>
          <a:xfrm>
            <a:off x="1070083" y="3255588"/>
            <a:ext cx="322741" cy="417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C81DC8-AD68-4D9B-9883-605B516724BA}"/>
              </a:ext>
            </a:extLst>
          </p:cNvPr>
          <p:cNvSpPr/>
          <p:nvPr/>
        </p:nvSpPr>
        <p:spPr>
          <a:xfrm>
            <a:off x="1392824" y="3255588"/>
            <a:ext cx="322741" cy="417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DE9C00-1379-4C25-9E2F-53EA085B4E12}"/>
              </a:ext>
            </a:extLst>
          </p:cNvPr>
          <p:cNvSpPr/>
          <p:nvPr/>
        </p:nvSpPr>
        <p:spPr>
          <a:xfrm>
            <a:off x="1719182" y="3255587"/>
            <a:ext cx="322741" cy="417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3F4B8A-D718-4F4B-99A8-D61E632D6A68}"/>
              </a:ext>
            </a:extLst>
          </p:cNvPr>
          <p:cNvSpPr/>
          <p:nvPr/>
        </p:nvSpPr>
        <p:spPr>
          <a:xfrm>
            <a:off x="2045540" y="3255588"/>
            <a:ext cx="322741" cy="417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248AC7-C089-4088-A398-435E21856507}"/>
              </a:ext>
            </a:extLst>
          </p:cNvPr>
          <p:cNvSpPr/>
          <p:nvPr/>
        </p:nvSpPr>
        <p:spPr>
          <a:xfrm>
            <a:off x="2368127" y="3255585"/>
            <a:ext cx="322741" cy="417191"/>
          </a:xfrm>
          <a:prstGeom prst="rect">
            <a:avLst/>
          </a:prstGeom>
          <a:solidFill>
            <a:schemeClr val="accent3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9F4D7-607B-4981-8BA5-7BB1051D983A}"/>
              </a:ext>
            </a:extLst>
          </p:cNvPr>
          <p:cNvSpPr/>
          <p:nvPr/>
        </p:nvSpPr>
        <p:spPr>
          <a:xfrm>
            <a:off x="2690714" y="3255585"/>
            <a:ext cx="322741" cy="417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8041A4-008D-4B73-B708-BDEA1C102160}"/>
              </a:ext>
            </a:extLst>
          </p:cNvPr>
          <p:cNvSpPr/>
          <p:nvPr/>
        </p:nvSpPr>
        <p:spPr>
          <a:xfrm>
            <a:off x="3013301" y="3255585"/>
            <a:ext cx="322741" cy="417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79D460-E108-428C-B8D0-9FE02E9D7873}"/>
              </a:ext>
            </a:extLst>
          </p:cNvPr>
          <p:cNvSpPr/>
          <p:nvPr/>
        </p:nvSpPr>
        <p:spPr>
          <a:xfrm>
            <a:off x="3335734" y="3255588"/>
            <a:ext cx="322741" cy="417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A93CB-A9EA-4632-AC2B-847110428CB7}"/>
              </a:ext>
            </a:extLst>
          </p:cNvPr>
          <p:cNvSpPr/>
          <p:nvPr/>
        </p:nvSpPr>
        <p:spPr>
          <a:xfrm>
            <a:off x="3664708" y="3255585"/>
            <a:ext cx="322741" cy="417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96B06D-A9D6-4050-828A-E262672179F5}"/>
              </a:ext>
            </a:extLst>
          </p:cNvPr>
          <p:cNvSpPr/>
          <p:nvPr/>
        </p:nvSpPr>
        <p:spPr>
          <a:xfrm>
            <a:off x="3987141" y="3255588"/>
            <a:ext cx="322741" cy="417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4AE4DC-21FE-444E-8581-03895734ADF1}"/>
              </a:ext>
            </a:extLst>
          </p:cNvPr>
          <p:cNvSpPr/>
          <p:nvPr/>
        </p:nvSpPr>
        <p:spPr>
          <a:xfrm>
            <a:off x="4309574" y="3255588"/>
            <a:ext cx="322741" cy="417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53033C-505F-48E6-BB60-872A3BFAC585}"/>
              </a:ext>
            </a:extLst>
          </p:cNvPr>
          <p:cNvSpPr/>
          <p:nvPr/>
        </p:nvSpPr>
        <p:spPr>
          <a:xfrm>
            <a:off x="4630903" y="3255588"/>
            <a:ext cx="322741" cy="417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4194F1-6B46-4DF2-A675-61741E7297F6}"/>
              </a:ext>
            </a:extLst>
          </p:cNvPr>
          <p:cNvSpPr/>
          <p:nvPr/>
        </p:nvSpPr>
        <p:spPr>
          <a:xfrm>
            <a:off x="4951924" y="3255588"/>
            <a:ext cx="322741" cy="417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28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7DC4CF-F03F-4A23-9BBB-9D13C93F19F8}"/>
              </a:ext>
            </a:extLst>
          </p:cNvPr>
          <p:cNvSpPr/>
          <p:nvPr/>
        </p:nvSpPr>
        <p:spPr>
          <a:xfrm>
            <a:off x="5274582" y="3255588"/>
            <a:ext cx="322741" cy="417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29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6F6A6A-B807-4525-8FE1-5CCBCF9D5BAF}"/>
              </a:ext>
            </a:extLst>
          </p:cNvPr>
          <p:cNvSpPr/>
          <p:nvPr/>
        </p:nvSpPr>
        <p:spPr>
          <a:xfrm>
            <a:off x="5599746" y="3255588"/>
            <a:ext cx="322741" cy="417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BA54D2-4BDA-4A6E-9717-9A6D8D49B3B0}"/>
              </a:ext>
            </a:extLst>
          </p:cNvPr>
          <p:cNvSpPr/>
          <p:nvPr/>
        </p:nvSpPr>
        <p:spPr>
          <a:xfrm>
            <a:off x="5917029" y="3255588"/>
            <a:ext cx="322741" cy="417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31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30124A-5F94-4747-85A4-8B5A05A32831}"/>
              </a:ext>
            </a:extLst>
          </p:cNvPr>
          <p:cNvSpPr/>
          <p:nvPr/>
        </p:nvSpPr>
        <p:spPr>
          <a:xfrm>
            <a:off x="6234311" y="3255588"/>
            <a:ext cx="322741" cy="417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32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4F4CEF-7219-4BFF-862B-80FF8C2772A0}"/>
              </a:ext>
            </a:extLst>
          </p:cNvPr>
          <p:cNvSpPr/>
          <p:nvPr/>
        </p:nvSpPr>
        <p:spPr>
          <a:xfrm>
            <a:off x="6551594" y="3255588"/>
            <a:ext cx="322741" cy="417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33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2A154FC-7D1A-4A35-A5BB-7274A46C84A0}"/>
              </a:ext>
            </a:extLst>
          </p:cNvPr>
          <p:cNvSpPr/>
          <p:nvPr/>
        </p:nvSpPr>
        <p:spPr>
          <a:xfrm>
            <a:off x="6868876" y="3255588"/>
            <a:ext cx="322741" cy="417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34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2DE8884-E22C-4850-91C8-87D4376D8C9F}"/>
              </a:ext>
            </a:extLst>
          </p:cNvPr>
          <p:cNvSpPr/>
          <p:nvPr/>
        </p:nvSpPr>
        <p:spPr>
          <a:xfrm>
            <a:off x="7186382" y="3255588"/>
            <a:ext cx="322741" cy="417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35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C887BB-96C4-409A-A7A9-6BBE6FB5DDA7}"/>
              </a:ext>
            </a:extLst>
          </p:cNvPr>
          <p:cNvSpPr/>
          <p:nvPr/>
        </p:nvSpPr>
        <p:spPr>
          <a:xfrm>
            <a:off x="7503441" y="3255588"/>
            <a:ext cx="322741" cy="417191"/>
          </a:xfrm>
          <a:prstGeom prst="rect">
            <a:avLst/>
          </a:prstGeom>
          <a:solidFill>
            <a:schemeClr val="accent3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36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92B0497-9642-4A6C-96F7-608E15CC4769}"/>
              </a:ext>
            </a:extLst>
          </p:cNvPr>
          <p:cNvSpPr/>
          <p:nvPr/>
        </p:nvSpPr>
        <p:spPr>
          <a:xfrm>
            <a:off x="1070084" y="4082222"/>
            <a:ext cx="2122436" cy="2601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…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5918C25-8C6D-4E89-A6CB-2FA81159DEF6}"/>
              </a:ext>
            </a:extLst>
          </p:cNvPr>
          <p:cNvCxnSpPr>
            <a:cxnSpLocks/>
          </p:cNvCxnSpPr>
          <p:nvPr/>
        </p:nvCxnSpPr>
        <p:spPr>
          <a:xfrm flipH="1">
            <a:off x="1081065" y="3672775"/>
            <a:ext cx="1287062" cy="4094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6A7BA6D-9F90-4A6D-A65B-B1F53725A934}"/>
              </a:ext>
            </a:extLst>
          </p:cNvPr>
          <p:cNvCxnSpPr>
            <a:cxnSpLocks/>
          </p:cNvCxnSpPr>
          <p:nvPr/>
        </p:nvCxnSpPr>
        <p:spPr>
          <a:xfrm>
            <a:off x="2664257" y="3672775"/>
            <a:ext cx="511636" cy="4094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11B2FC81-05FB-4DF0-903F-7CB587FD36E8}"/>
              </a:ext>
            </a:extLst>
          </p:cNvPr>
          <p:cNvSpPr/>
          <p:nvPr/>
        </p:nvSpPr>
        <p:spPr>
          <a:xfrm>
            <a:off x="7819961" y="3255584"/>
            <a:ext cx="322741" cy="417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…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16F4F6F-033C-4E5D-84A4-0F6828E57687}"/>
              </a:ext>
            </a:extLst>
          </p:cNvPr>
          <p:cNvSpPr/>
          <p:nvPr/>
        </p:nvSpPr>
        <p:spPr>
          <a:xfrm>
            <a:off x="1068224" y="4082219"/>
            <a:ext cx="408944" cy="260134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7FA479E-CDBF-44A8-8DCB-4E05C85E1347}"/>
              </a:ext>
            </a:extLst>
          </p:cNvPr>
          <p:cNvSpPr/>
          <p:nvPr/>
        </p:nvSpPr>
        <p:spPr>
          <a:xfrm>
            <a:off x="1485501" y="4082219"/>
            <a:ext cx="408944" cy="260134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4709B63-6536-4D4F-A820-08DC2B26805D}"/>
              </a:ext>
            </a:extLst>
          </p:cNvPr>
          <p:cNvSpPr/>
          <p:nvPr/>
        </p:nvSpPr>
        <p:spPr>
          <a:xfrm>
            <a:off x="2374409" y="4082219"/>
            <a:ext cx="408944" cy="260134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12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80B2297-225A-4C89-9252-E201FAB37BB1}"/>
              </a:ext>
            </a:extLst>
          </p:cNvPr>
          <p:cNvSpPr/>
          <p:nvPr/>
        </p:nvSpPr>
        <p:spPr>
          <a:xfrm>
            <a:off x="2783576" y="4082219"/>
            <a:ext cx="408944" cy="260134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13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19E1B6E-B869-40BB-A207-8FC55F117E5D}"/>
              </a:ext>
            </a:extLst>
          </p:cNvPr>
          <p:cNvSpPr/>
          <p:nvPr/>
        </p:nvSpPr>
        <p:spPr>
          <a:xfrm>
            <a:off x="6213388" y="4082222"/>
            <a:ext cx="2122436" cy="2601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…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77AF6BA-BC3D-4A96-B775-4AB13043CBB8}"/>
              </a:ext>
            </a:extLst>
          </p:cNvPr>
          <p:cNvCxnSpPr>
            <a:cxnSpLocks/>
          </p:cNvCxnSpPr>
          <p:nvPr/>
        </p:nvCxnSpPr>
        <p:spPr>
          <a:xfrm flipH="1">
            <a:off x="6211305" y="3672775"/>
            <a:ext cx="1300126" cy="4094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B5A5BEB-D500-43E5-8FFE-BF0F1434B096}"/>
              </a:ext>
            </a:extLst>
          </p:cNvPr>
          <p:cNvCxnSpPr>
            <a:cxnSpLocks/>
          </p:cNvCxnSpPr>
          <p:nvPr/>
        </p:nvCxnSpPr>
        <p:spPr>
          <a:xfrm>
            <a:off x="7807561" y="3672775"/>
            <a:ext cx="504889" cy="409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52394208-56E7-495E-BF0B-DDF2903927E2}"/>
              </a:ext>
            </a:extLst>
          </p:cNvPr>
          <p:cNvSpPr/>
          <p:nvPr/>
        </p:nvSpPr>
        <p:spPr>
          <a:xfrm>
            <a:off x="6211528" y="4082219"/>
            <a:ext cx="408944" cy="260134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0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D57C567-BA96-42E1-B385-C9999C05A4DE}"/>
              </a:ext>
            </a:extLst>
          </p:cNvPr>
          <p:cNvSpPr/>
          <p:nvPr/>
        </p:nvSpPr>
        <p:spPr>
          <a:xfrm>
            <a:off x="6628805" y="4082219"/>
            <a:ext cx="408944" cy="260134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1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31589D4-630E-4309-962A-C7D2E06C8AEC}"/>
              </a:ext>
            </a:extLst>
          </p:cNvPr>
          <p:cNvSpPr/>
          <p:nvPr/>
        </p:nvSpPr>
        <p:spPr>
          <a:xfrm>
            <a:off x="7517713" y="4082219"/>
            <a:ext cx="408944" cy="260134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12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4FF9E9B-FF25-4C8F-966D-7514BC508E5B}"/>
              </a:ext>
            </a:extLst>
          </p:cNvPr>
          <p:cNvSpPr/>
          <p:nvPr/>
        </p:nvSpPr>
        <p:spPr>
          <a:xfrm>
            <a:off x="7926880" y="4082219"/>
            <a:ext cx="408944" cy="260134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latin typeface="FS PF BeauSans Pro SemiBold" panose="02000503000000020004"/>
              </a:rPr>
              <a:t>13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040301-E966-4134-9679-0E40BBB768D2}"/>
              </a:ext>
            </a:extLst>
          </p:cNvPr>
          <p:cNvSpPr txBox="1"/>
          <p:nvPr/>
        </p:nvSpPr>
        <p:spPr>
          <a:xfrm>
            <a:off x="2783353" y="4342353"/>
            <a:ext cx="40133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FS PF BeauSans Pro SemiBold" panose="02000503000000020004"/>
              </a:rPr>
              <a:t>PO</a:t>
            </a:r>
            <a:endParaRPr lang="en-US" dirty="0">
              <a:latin typeface="FS PF BeauSans Pro SemiBold" panose="02000503000000020004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9B4DB61-55F5-4B57-8DB6-85418F63FD1F}"/>
              </a:ext>
            </a:extLst>
          </p:cNvPr>
          <p:cNvSpPr txBox="1"/>
          <p:nvPr/>
        </p:nvSpPr>
        <p:spPr>
          <a:xfrm>
            <a:off x="7936120" y="4342353"/>
            <a:ext cx="40133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FS PF BeauSans Pro SemiBold" panose="02000503000000020004"/>
              </a:rPr>
              <a:t>PO</a:t>
            </a:r>
            <a:endParaRPr lang="en-US" dirty="0">
              <a:latin typeface="FS PF BeauSans Pro SemiBold" panose="02000503000000020004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140B4E-6E25-4246-8744-BE85EB0ED854}"/>
              </a:ext>
            </a:extLst>
          </p:cNvPr>
          <p:cNvSpPr txBox="1"/>
          <p:nvPr/>
        </p:nvSpPr>
        <p:spPr>
          <a:xfrm>
            <a:off x="7464144" y="3696204"/>
            <a:ext cx="40133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FS PF BeauSans Pro SemiBold" panose="02000503000000020004"/>
              </a:rPr>
              <a:t>PF</a:t>
            </a:r>
            <a:endParaRPr lang="en-US" dirty="0">
              <a:latin typeface="FS PF BeauSans Pro SemiBold" panose="02000503000000020004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302E09C-25AA-45E9-A853-01DEBC333065}"/>
              </a:ext>
            </a:extLst>
          </p:cNvPr>
          <p:cNvSpPr txBox="1"/>
          <p:nvPr/>
        </p:nvSpPr>
        <p:spPr>
          <a:xfrm>
            <a:off x="2337060" y="3702134"/>
            <a:ext cx="40133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FS PF BeauSans Pro SemiBold" panose="02000503000000020004"/>
              </a:rPr>
              <a:t>PF</a:t>
            </a:r>
            <a:endParaRPr lang="en-US" dirty="0">
              <a:latin typeface="FS PF BeauSans Pro SemiBold" panose="02000503000000020004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0776CB5-4F7B-4414-9750-A7AD1779B2ED}"/>
              </a:ext>
            </a:extLst>
          </p:cNvPr>
          <p:cNvSpPr txBox="1"/>
          <p:nvPr/>
        </p:nvSpPr>
        <p:spPr>
          <a:xfrm>
            <a:off x="4234128" y="2773962"/>
            <a:ext cx="143559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DRX Cycle</a:t>
            </a:r>
          </a:p>
        </p:txBody>
      </p: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BDE6376B-EB5A-41D5-89BB-AFEAD5B1EF62}"/>
              </a:ext>
            </a:extLst>
          </p:cNvPr>
          <p:cNvCxnSpPr>
            <a:stCxn id="15" idx="0"/>
            <a:endCxn id="37" idx="0"/>
          </p:cNvCxnSpPr>
          <p:nvPr/>
        </p:nvCxnSpPr>
        <p:spPr>
          <a:xfrm rot="16200000" flipH="1">
            <a:off x="5097153" y="687929"/>
            <a:ext cx="3" cy="5135314"/>
          </a:xfrm>
          <a:prstGeom prst="bentConnector3">
            <a:avLst>
              <a:gd name="adj1" fmla="val -762000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110995-5DEA-523C-8A59-C534C249F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36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9248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4291-86A5-4762-9E21-DFB59D2BC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Calculate the Paging Occasion at UE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7B4C5-ED10-4DEC-9AD3-151EC605F8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49" y="1268016"/>
            <a:ext cx="7886699" cy="316209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According to 3GPP TS 38.304: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</a:rPr>
              <a:t>Paging Frame:</a:t>
            </a:r>
          </a:p>
          <a:p>
            <a:pPr algn="ctr"/>
            <a:r>
              <a:rPr lang="da-DK" dirty="0"/>
              <a:t>(SFN + PF_offset) mod T = (T div N)*(UE_ID mod 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accent3"/>
                </a:solidFill>
              </a:rPr>
              <a:t>Paging Occasion:</a:t>
            </a:r>
          </a:p>
          <a:p>
            <a:pPr algn="ctr"/>
            <a:r>
              <a:rPr lang="en-US" dirty="0"/>
              <a:t>i_s = floor (UE_ID/N) mod Ns</a:t>
            </a:r>
          </a:p>
          <a:p>
            <a:pPr marL="800100" lvl="1" indent="-285750"/>
            <a:r>
              <a:rPr lang="en-US" dirty="0"/>
              <a:t>T: DRX cycle of the UE</a:t>
            </a:r>
          </a:p>
          <a:p>
            <a:pPr marL="800100" lvl="1" indent="-285750"/>
            <a:r>
              <a:rPr lang="en-US" dirty="0"/>
              <a:t>N: Number of total paging frames in T</a:t>
            </a:r>
          </a:p>
          <a:p>
            <a:pPr marL="800100" lvl="1" indent="-285750"/>
            <a:r>
              <a:rPr lang="en-US" dirty="0"/>
              <a:t>Ns: number of paging occasions for a PF</a:t>
            </a:r>
          </a:p>
          <a:p>
            <a:pPr marL="800100" lvl="1" indent="-285750"/>
            <a:r>
              <a:rPr lang="en-US" dirty="0" err="1"/>
              <a:t>PF_offset</a:t>
            </a:r>
            <a:r>
              <a:rPr lang="en-US" dirty="0"/>
              <a:t>: offset used for PF determination</a:t>
            </a:r>
          </a:p>
          <a:p>
            <a:pPr marL="800100" lvl="1" indent="-285750"/>
            <a:r>
              <a:rPr lang="en-US" dirty="0"/>
              <a:t>UE_ID: 5G-S-TMSI mod 1024</a:t>
            </a:r>
          </a:p>
          <a:p>
            <a:pPr lvl="1" indent="0">
              <a:buNone/>
            </a:pPr>
            <a:r>
              <a:rPr lang="en-US" dirty="0"/>
              <a:t>Note: All Parameters except for UE_ID are signaled in </a:t>
            </a:r>
            <a:r>
              <a:rPr lang="en-US" b="1" i="1" dirty="0"/>
              <a:t>SIB1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800100" lvl="1" indent="-285750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5C0946-8CE6-039C-7C0F-5DBDF9CB0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37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9822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09FE5-CFB7-4048-9451-1104C7FA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Example: calculation the PF/PO at UE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836CC-7EB9-46CB-8E82-B0664D71DF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1817235"/>
            <a:ext cx="3505200" cy="343198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SIB1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38F22-63CC-4F5E-A052-49E0FE29F2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02235" y="3032354"/>
            <a:ext cx="828833" cy="343198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Paging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995494"/>
              </p:ext>
            </p:extLst>
          </p:nvPr>
        </p:nvGraphicFramePr>
        <p:xfrm>
          <a:off x="7007225" y="1271071"/>
          <a:ext cx="10525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053000" imgH="482400" progId="Package">
                  <p:embed/>
                </p:oleObj>
              </mc:Choice>
              <mc:Fallback>
                <p:oleObj name="Packager Shell Object" showAsIcon="1" r:id="rId2" imgW="1053000" imgH="4824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07225" y="1271071"/>
                        <a:ext cx="1052513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493" y="1943770"/>
            <a:ext cx="4362027" cy="2392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2845" y="1268016"/>
            <a:ext cx="2571750" cy="150495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8C836CC-7EB9-46CB-8E82-B0664D71DF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3203953"/>
            <a:ext cx="3505200" cy="34319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PF/PO of this UE ???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0AC6C69-8D5C-071C-8699-DCACEF40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38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6059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9D252-AF12-4C9E-B7A5-FE3BFA574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Example- Select the best Paging Occasion at gNB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8C836CC-7EB9-46CB-8E82-B0664D71DF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1308039"/>
            <a:ext cx="4173938" cy="34319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gNodeB receives the </a:t>
            </a:r>
            <a:r>
              <a:rPr lang="en-US" dirty="0" err="1">
                <a:solidFill>
                  <a:schemeClr val="tx1"/>
                </a:solidFill>
              </a:rPr>
              <a:t>NgAP</a:t>
            </a:r>
            <a:r>
              <a:rPr lang="en-US" dirty="0">
                <a:solidFill>
                  <a:schemeClr val="tx1"/>
                </a:solidFill>
              </a:rPr>
              <a:t> Paging message </a:t>
            </a:r>
          </a:p>
          <a:p>
            <a:pPr marL="800100" lvl="1" indent="-285750"/>
            <a:r>
              <a:rPr lang="en-US" dirty="0">
                <a:solidFill>
                  <a:schemeClr val="tx1"/>
                </a:solidFill>
              </a:rPr>
              <a:t>At current </a:t>
            </a:r>
            <a:r>
              <a:rPr lang="en-US" dirty="0" err="1">
                <a:solidFill>
                  <a:schemeClr val="tx1"/>
                </a:solidFill>
              </a:rPr>
              <a:t>gNB_SFN</a:t>
            </a:r>
            <a:r>
              <a:rPr lang="en-US" dirty="0">
                <a:solidFill>
                  <a:schemeClr val="tx1"/>
                </a:solidFill>
              </a:rPr>
              <a:t> : 100 //  [0-1023]</a:t>
            </a:r>
          </a:p>
          <a:p>
            <a:pPr marL="800100" lvl="1" indent="-285750"/>
            <a:r>
              <a:rPr lang="en-US" dirty="0">
                <a:solidFill>
                  <a:schemeClr val="tx1"/>
                </a:solidFill>
              </a:rPr>
              <a:t>5G-S-TMSI: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039" y="2057191"/>
            <a:ext cx="7466647" cy="28575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8C836CC-7EB9-46CB-8E82-B0664D71DF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1211" y="3034646"/>
            <a:ext cx="3505200" cy="34319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PF/PO that gNodeB Should be sent to this UE ???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26AB8D2-4181-1E16-A317-936F14F0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39</a:t>
            </a:fld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5589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203441" cy="4604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181" y="1188972"/>
            <a:ext cx="3463159" cy="22209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44047" y="2037851"/>
            <a:ext cx="3183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S PF BeauSans Pro Light" panose="02000500000000020004" pitchFamily="2" charset="0"/>
              </a:rPr>
              <a:t>Mini-project</a:t>
            </a:r>
          </a:p>
        </p:txBody>
      </p:sp>
    </p:spTree>
    <p:extLst>
      <p:ext uri="{BB962C8B-B14F-4D97-AF65-F5344CB8AC3E}">
        <p14:creationId xmlns:p14="http://schemas.microsoft.com/office/powerpoint/2010/main" val="11158040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9D252-AF12-4C9E-B7A5-FE3BFA574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Exercise 1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26AB8D2-4181-1E16-A317-936F14F0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41</a:t>
            </a:fld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321422D-1558-EEC0-6090-D9549793B6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06956-047A-0656-73EE-D9EF99EBDD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D87BDC-90FC-4F9E-89B6-67666EB26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068140"/>
            <a:ext cx="5160010" cy="334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6802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9D252-AF12-4C9E-B7A5-FE3BFA574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Exercise 2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26AB8D2-4181-1E16-A317-936F14F0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42</a:t>
            </a:fld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321422D-1558-EEC0-6090-D9549793B6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06956-047A-0656-73EE-D9EF99EBDD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684B5-FCE3-737C-02EC-3B1DCAA77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268016"/>
            <a:ext cx="5686425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6466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9D252-AF12-4C9E-B7A5-FE3BFA574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Exercise 2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26AB8D2-4181-1E16-A317-936F14F0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43</a:t>
            </a:fld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321422D-1558-EEC0-6090-D9549793B6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06956-047A-0656-73EE-D9EF99EBDD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AC002F-8DFD-E097-8B4D-F7C74162D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276350"/>
            <a:ext cx="5762625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724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9D252-AF12-4C9E-B7A5-FE3BFA574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Exercise 3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26AB8D2-4181-1E16-A317-936F14F0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44</a:t>
            </a:fld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321422D-1558-EEC0-6090-D9549793B6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06956-047A-0656-73EE-D9EF99EBDD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80E867-895E-C9E8-C62A-43A0289A2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268016"/>
            <a:ext cx="55816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4814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9D252-AF12-4C9E-B7A5-FE3BFA574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Note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26AB8D2-4181-1E16-A317-936F14F0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90" y="4723126"/>
            <a:ext cx="384557" cy="301229"/>
          </a:xfrm>
        </p:spPr>
        <p:txBody>
          <a:bodyPr/>
          <a:lstStyle/>
          <a:p>
            <a:fld id="{93B98895-42D1-4568-AA14-19FE58D3EDFF}" type="slidenum">
              <a:rPr lang="en-US" sz="1350">
                <a:solidFill>
                  <a:srgbClr val="FF0000"/>
                </a:solidFill>
              </a:rPr>
              <a:t>45</a:t>
            </a:fld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321422D-1558-EEC0-6090-D9549793B6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06956-047A-0656-73EE-D9EF99EBDD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D4F2E3-C04F-D15B-09A1-9D2FB604B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195705"/>
            <a:ext cx="5934075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3956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203441" cy="4604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181" y="1188972"/>
            <a:ext cx="3463159" cy="22209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44047" y="2037851"/>
            <a:ext cx="3183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S PF BeauSans Pro Light" panose="02000500000000020004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038645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3GPP release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983848"/>
            <a:ext cx="8272282" cy="356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0073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8. </a:t>
            </a:r>
            <a:r>
              <a:rPr lang="en-US" dirty="0"/>
              <a:t>3GPP Release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228600" y="1325680"/>
          <a:ext cx="4625439" cy="2336148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653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2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679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  <a:hlinkClick r:id="rId2"/>
                        </a:rPr>
                        <a:t>38.201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Myriad Pro Light"/>
                      </a:endParaRPr>
                    </a:p>
                  </a:txBody>
                  <a:tcPr marL="12664" marR="12664" marT="12664" marB="12664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NR; Physical layer; General description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Myriad Pro Light"/>
                      </a:endParaRPr>
                    </a:p>
                  </a:txBody>
                  <a:tcPr marL="12664" marR="12664" marT="12664" marB="12664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679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800" u="none" strike="noStrike">
                          <a:solidFill>
                            <a:schemeClr val="tx1"/>
                          </a:solidFill>
                          <a:effectLst/>
                          <a:hlinkClick r:id="rId3"/>
                        </a:rPr>
                        <a:t>38.202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Myriad Pro Light"/>
                      </a:endParaRPr>
                    </a:p>
                  </a:txBody>
                  <a:tcPr marL="12664" marR="12664" marT="12664" marB="12664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NR; Services provided by the physical layer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Myriad Pro Light"/>
                      </a:endParaRPr>
                    </a:p>
                  </a:txBody>
                  <a:tcPr marL="12664" marR="12664" marT="12664" marB="12664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679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800" u="none" strike="noStrike">
                          <a:solidFill>
                            <a:schemeClr val="tx1"/>
                          </a:solidFill>
                          <a:effectLst/>
                          <a:hlinkClick r:id="rId4"/>
                        </a:rPr>
                        <a:t>38.211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Myriad Pro Light"/>
                      </a:endParaRPr>
                    </a:p>
                  </a:txBody>
                  <a:tcPr marL="12664" marR="12664" marT="12664" marB="12664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NR; Physical channels and modulation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Myriad Pro Light"/>
                      </a:endParaRPr>
                    </a:p>
                  </a:txBody>
                  <a:tcPr marL="12664" marR="12664" marT="12664" marB="12664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679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800" u="none" strike="noStrike">
                          <a:solidFill>
                            <a:schemeClr val="tx1"/>
                          </a:solidFill>
                          <a:effectLst/>
                          <a:hlinkClick r:id="rId5"/>
                        </a:rPr>
                        <a:t>38.212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Myriad Pro Light"/>
                      </a:endParaRPr>
                    </a:p>
                  </a:txBody>
                  <a:tcPr marL="12664" marR="12664" marT="12664" marB="12664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NR; Multiplexing and channel coding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Myriad Pro Light"/>
                      </a:endParaRPr>
                    </a:p>
                  </a:txBody>
                  <a:tcPr marL="12664" marR="12664" marT="12664" marB="12664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679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800" u="none" strike="noStrike">
                          <a:solidFill>
                            <a:schemeClr val="tx1"/>
                          </a:solidFill>
                          <a:effectLst/>
                          <a:hlinkClick r:id="rId6"/>
                        </a:rPr>
                        <a:t>38.213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Myriad Pro Light"/>
                      </a:endParaRPr>
                    </a:p>
                  </a:txBody>
                  <a:tcPr marL="12664" marR="12664" marT="12664" marB="12664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NR; Physical layer procedures for control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Myriad Pro Light"/>
                      </a:endParaRPr>
                    </a:p>
                  </a:txBody>
                  <a:tcPr marL="12664" marR="12664" marT="12664" marB="12664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679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800" u="none" strike="noStrike">
                          <a:solidFill>
                            <a:schemeClr val="tx1"/>
                          </a:solidFill>
                          <a:effectLst/>
                          <a:hlinkClick r:id="rId7"/>
                        </a:rPr>
                        <a:t>38.214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Myriad Pro Light"/>
                      </a:endParaRPr>
                    </a:p>
                  </a:txBody>
                  <a:tcPr marL="12664" marR="12664" marT="12664" marB="12664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NR; Physical layer procedures for data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Myriad Pro Light"/>
                      </a:endParaRPr>
                    </a:p>
                  </a:txBody>
                  <a:tcPr marL="12664" marR="12664" marT="12664" marB="12664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679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  <a:hlinkClick r:id="rId8"/>
                        </a:rPr>
                        <a:t>38.215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Myriad Pro Light"/>
                      </a:endParaRPr>
                    </a:p>
                  </a:txBody>
                  <a:tcPr marL="12664" marR="12664" marT="12664" marB="12664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NR; Physical layer measurements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Myriad Pro Light"/>
                      </a:endParaRPr>
                    </a:p>
                  </a:txBody>
                  <a:tcPr marL="12664" marR="12664" marT="12664" marB="12664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679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  <a:hlinkClick r:id="rId9"/>
                        </a:rPr>
                        <a:t>38.321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inherit"/>
                      </a:endParaRPr>
                    </a:p>
                  </a:txBody>
                  <a:tcPr marL="14288" marR="14288" marT="14288" marB="1428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NR; </a:t>
                      </a:r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</a:rPr>
                        <a:t>Medium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Access Control (MAC) protocol specification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inherit"/>
                      </a:endParaRPr>
                    </a:p>
                  </a:txBody>
                  <a:tcPr marL="14288" marR="14288" marT="14288" marB="1428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679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  <a:hlinkClick r:id="rId10"/>
                        </a:rPr>
                        <a:t>38.322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inherit"/>
                      </a:endParaRPr>
                    </a:p>
                  </a:txBody>
                  <a:tcPr marL="14288" marR="14288" marT="14288" marB="1428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NR; Radio Link Control (RLC) protocol specification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inherit"/>
                      </a:endParaRPr>
                    </a:p>
                  </a:txBody>
                  <a:tcPr marL="14288" marR="14288" marT="14288" marB="1428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4679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  <a:hlinkClick r:id="rId11"/>
                        </a:rPr>
                        <a:t>38.323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inherit"/>
                      </a:endParaRPr>
                    </a:p>
                  </a:txBody>
                  <a:tcPr marL="14288" marR="14288" marT="14288" marB="1428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NR; Packet Data Convergence Protocol (PDCP) specification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inherit"/>
                      </a:endParaRPr>
                    </a:p>
                  </a:txBody>
                  <a:tcPr marL="14288" marR="14288" marT="14288" marB="1428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4679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800" u="none" strike="noStrike">
                          <a:solidFill>
                            <a:schemeClr val="tx1"/>
                          </a:solidFill>
                          <a:effectLst/>
                          <a:hlinkClick r:id="rId12"/>
                        </a:rPr>
                        <a:t>38.331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inherit"/>
                      </a:endParaRPr>
                    </a:p>
                  </a:txBody>
                  <a:tcPr marL="14288" marR="14288" marT="14288" marB="1428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NR; Radio Resource Control (RRC); Protocol specification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inherit"/>
                      </a:endParaRPr>
                    </a:p>
                  </a:txBody>
                  <a:tcPr marL="14288" marR="14288" marT="14288" marB="1428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4679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800" u="none" strike="noStrike">
                          <a:solidFill>
                            <a:schemeClr val="tx1"/>
                          </a:solidFill>
                          <a:effectLst/>
                          <a:hlinkClick r:id="rId13"/>
                        </a:rPr>
                        <a:t>38.340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inherit"/>
                      </a:endParaRPr>
                    </a:p>
                  </a:txBody>
                  <a:tcPr marL="14288" marR="14288" marT="14288" marB="1428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NR; Adaptation layer (SDAP)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inherit"/>
                      </a:endParaRPr>
                    </a:p>
                  </a:txBody>
                  <a:tcPr marL="14288" marR="14288" marT="14288" marB="1428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92608-F581-40EA-8D91-AF1134355C16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48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32169" y="205976"/>
          <a:ext cx="3874325" cy="4380866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757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hlinkClick r:id="rId14"/>
                        </a:rPr>
                        <a:t>38.401</a:t>
                      </a:r>
                      <a:endParaRPr lang="en-US" sz="900" dirty="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</a:rPr>
                        <a:t>NG-RAN; Architecture description</a:t>
                      </a:r>
                      <a:endParaRPr lang="en-US" sz="900" dirty="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15"/>
                        </a:rPr>
                        <a:t>38.410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NG-RAN; NG general aspects and principles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16"/>
                        </a:rPr>
                        <a:t>38.411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NG-RAN; NG layer 1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17"/>
                        </a:rPr>
                        <a:t>38.412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NG-RAN; NG signalling transport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18"/>
                        </a:rPr>
                        <a:t>38.413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NG-RAN; NG Application Protocol (NGAP)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19"/>
                        </a:rPr>
                        <a:t>38.414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</a:rPr>
                        <a:t>NG-RAN; NG data transport</a:t>
                      </a:r>
                      <a:endParaRPr lang="en-US" sz="900" dirty="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20"/>
                        </a:rPr>
                        <a:t>38.415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NG-RAN; PDU Session User Plane protocol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21"/>
                        </a:rPr>
                        <a:t>38.420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NG-RAN; Xn general aspects and principles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22"/>
                        </a:rPr>
                        <a:t>38.421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NG-RAN; Xn layer 1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23"/>
                        </a:rPr>
                        <a:t>38.422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</a:rPr>
                        <a:t>NG-RAN; </a:t>
                      </a:r>
                      <a:r>
                        <a:rPr lang="en-US" sz="900" dirty="0" err="1">
                          <a:solidFill>
                            <a:schemeClr val="tx1"/>
                          </a:solidFill>
                          <a:effectLst/>
                        </a:rPr>
                        <a:t>Xn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900" dirty="0" err="1">
                          <a:solidFill>
                            <a:schemeClr val="tx1"/>
                          </a:solidFill>
                          <a:effectLst/>
                        </a:rPr>
                        <a:t>signalling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</a:rPr>
                        <a:t> transport</a:t>
                      </a:r>
                      <a:endParaRPr lang="en-US" sz="900" dirty="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24"/>
                        </a:rPr>
                        <a:t>38.423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NG-RAN; Xn Application Protocol (XnAP)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2441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25"/>
                        </a:rPr>
                        <a:t>38.424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NG-RAN; Xn data transport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26"/>
                        </a:rPr>
                        <a:t>38.425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nn-NO" sz="900">
                          <a:solidFill>
                            <a:schemeClr val="tx1"/>
                          </a:solidFill>
                          <a:effectLst/>
                        </a:rPr>
                        <a:t>NG-RAN; NR user plane protocol</a:t>
                      </a:r>
                      <a:endParaRPr lang="nn-NO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hlinkClick r:id="rId27"/>
                        </a:rPr>
                        <a:t>38.455</a:t>
                      </a:r>
                      <a:endParaRPr lang="en-US" sz="900" dirty="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NG-RAN; NR Positioning Protocol A (NRPPa)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28"/>
                        </a:rPr>
                        <a:t>38.460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NG-RAN; E1 general aspects and principles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29"/>
                        </a:rPr>
                        <a:t>38.461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NG-RAN; E1 layer 1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30"/>
                        </a:rPr>
                        <a:t>38.462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</a:rPr>
                        <a:t>NG-RAN; E1 </a:t>
                      </a:r>
                      <a:r>
                        <a:rPr lang="en-US" sz="900" dirty="0" err="1">
                          <a:solidFill>
                            <a:schemeClr val="tx1"/>
                          </a:solidFill>
                          <a:effectLst/>
                        </a:rPr>
                        <a:t>signalling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</a:rPr>
                        <a:t> transport</a:t>
                      </a:r>
                      <a:endParaRPr lang="en-US" sz="900" dirty="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31"/>
                        </a:rPr>
                        <a:t>38.463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900">
                          <a:solidFill>
                            <a:schemeClr val="tx1"/>
                          </a:solidFill>
                          <a:effectLst/>
                        </a:rPr>
                        <a:t>NG-RAN; E1 Application Protocol (E1AP)</a:t>
                      </a:r>
                      <a:endParaRPr lang="it-IT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32"/>
                        </a:rPr>
                        <a:t>38.470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NG-RAN; F1 general aspects and principles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33"/>
                        </a:rPr>
                        <a:t>38.471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NG-RAN; F1 layer 1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34"/>
                        </a:rPr>
                        <a:t>38.472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NG-RAN; F1 signalling transport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35"/>
                        </a:rPr>
                        <a:t>38.473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NG-RAN; F1 Application Protocol (F1AP)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36"/>
                        </a:rPr>
                        <a:t>38.474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NG-RAN; F1 data transport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297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hlinkClick r:id="rId37"/>
                        </a:rPr>
                        <a:t>38.475</a:t>
                      </a:r>
                      <a:endParaRPr lang="en-US" sz="90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</a:rPr>
                        <a:t>NG-RAN; F1 interface user plane protocol</a:t>
                      </a:r>
                      <a:endParaRPr lang="en-US" sz="900" dirty="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3380" marR="3380" marT="3380" marB="338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600" y="3800077"/>
          <a:ext cx="4625439" cy="462915"/>
        </p:xfrm>
        <a:graphic>
          <a:graphicData uri="http://schemas.openxmlformats.org/drawingml/2006/table">
            <a:tbl>
              <a:tblPr/>
              <a:tblGrid>
                <a:gridCol w="653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2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305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Myriad Pro (Body)"/>
                        </a:rPr>
                        <a:t>TS </a:t>
                      </a:r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  <a:latin typeface="Myriad Pro (Body)"/>
                          <a:hlinkClick r:id="rId38"/>
                        </a:rPr>
                        <a:t>38.141-1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14288" marR="14288" marT="14288" marB="14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Myriad Pro (Body)"/>
                        </a:rPr>
                        <a:t>NR; Base Station (BS) </a:t>
                      </a:r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Myriad Pro (Body)"/>
                          <a:ea typeface="+mn-ea"/>
                          <a:cs typeface="+mn-cs"/>
                        </a:rPr>
                        <a:t>conformance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Myriad Pro (Body)"/>
                        </a:rPr>
                        <a:t> testing Part 1: Conducted conformance testing</a:t>
                      </a:r>
                    </a:p>
                  </a:txBody>
                  <a:tcPr marL="14288" marR="14288" marT="14288" marB="14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305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Myriad Pro (Body)"/>
                        </a:rPr>
                        <a:t>TS </a:t>
                      </a:r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  <a:latin typeface="Myriad Pro (Body)"/>
                          <a:hlinkClick r:id="rId39"/>
                        </a:rPr>
                        <a:t>38.141-2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14288" marR="14288" marT="14288" marB="14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Myriad Pro (Body)"/>
                        </a:rPr>
                        <a:t>NR; Base Station (BS) conformance testing Part 2: Radiated conformance testing</a:t>
                      </a:r>
                    </a:p>
                  </a:txBody>
                  <a:tcPr marL="14288" marR="14288" marT="14288" marB="14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305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Myriad Pro (Body)"/>
                        </a:rPr>
                        <a:t>TR </a:t>
                      </a:r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  <a:latin typeface="Myriad Pro (Body)"/>
                          <a:hlinkClick r:id="rId40"/>
                        </a:rPr>
                        <a:t>38.810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Myriad Pro (Body)"/>
                      </a:endParaRPr>
                    </a:p>
                  </a:txBody>
                  <a:tcPr marL="14288" marR="14288" marT="14288" marB="14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Myriad Pro (Body)"/>
                        </a:rPr>
                        <a:t>NR; Study on test methods</a:t>
                      </a:r>
                    </a:p>
                  </a:txBody>
                  <a:tcPr marL="14288" marR="14288" marT="14288" marB="14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28600" y="4382460"/>
          <a:ext cx="4625439" cy="154305"/>
        </p:xfrm>
        <a:graphic>
          <a:graphicData uri="http://schemas.openxmlformats.org/drawingml/2006/table">
            <a:tbl>
              <a:tblPr/>
              <a:tblGrid>
                <a:gridCol w="662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3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305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rgbClr val="2D2D2D"/>
                          </a:solidFill>
                          <a:effectLst/>
                          <a:latin typeface="Myriad Pro (Body)"/>
                        </a:rPr>
                        <a:t>TS </a:t>
                      </a:r>
                      <a:r>
                        <a:rPr lang="en-US" sz="800" u="none" strike="noStrike" dirty="0">
                          <a:solidFill>
                            <a:srgbClr val="5E85B7"/>
                          </a:solidFill>
                          <a:effectLst/>
                          <a:latin typeface="Myriad Pro (Body)"/>
                          <a:hlinkClick r:id="rId41"/>
                        </a:rPr>
                        <a:t>38.133</a:t>
                      </a:r>
                      <a:endParaRPr lang="en-US" sz="800" dirty="0">
                        <a:solidFill>
                          <a:srgbClr val="2D2D2D"/>
                        </a:solidFill>
                        <a:effectLst/>
                        <a:latin typeface="Myriad Pro (Body)"/>
                      </a:endParaRPr>
                    </a:p>
                  </a:txBody>
                  <a:tcPr marL="14288" marR="14288" marT="14288" marB="14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rgbClr val="2D2D2D"/>
                          </a:solidFill>
                          <a:effectLst/>
                          <a:latin typeface="Myriad Pro (Body)"/>
                        </a:rPr>
                        <a:t>NR; Requirements for support of radio resource management</a:t>
                      </a:r>
                    </a:p>
                  </a:txBody>
                  <a:tcPr marL="14288" marR="14288" marT="14288" marB="14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16725" y="1020039"/>
          <a:ext cx="4625439" cy="194679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653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2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679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TS </a:t>
                      </a:r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  <a:hlinkClick r:id="rId42"/>
                        </a:rPr>
                        <a:t>38.104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4288" marR="14288" marT="14288" marB="1428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NR; Base Station (BS) radio transmission and reception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4288" marR="14288" marT="14288" marB="1428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894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L" val="a1"/>
</p:tagLst>
</file>

<file path=ppt/theme/theme1.xml><?xml version="1.0" encoding="utf-8"?>
<a:theme xmlns:a="http://schemas.openxmlformats.org/drawingml/2006/main" name="1_Office Theme">
  <a:themeElements>
    <a:clrScheme name="Custom 1">
      <a:dk1>
        <a:srgbClr val="000000"/>
      </a:dk1>
      <a:lt1>
        <a:srgbClr val="FFFFFF"/>
      </a:lt1>
      <a:dk2>
        <a:srgbClr val="42494D"/>
      </a:dk2>
      <a:lt2>
        <a:srgbClr val="B4B4B4"/>
      </a:lt2>
      <a:accent1>
        <a:srgbClr val="E80500"/>
      </a:accent1>
      <a:accent2>
        <a:srgbClr val="FF9200"/>
      </a:accent2>
      <a:accent3>
        <a:srgbClr val="0432FF"/>
      </a:accent3>
      <a:accent4>
        <a:srgbClr val="932092"/>
      </a:accent4>
      <a:accent5>
        <a:srgbClr val="FEFB00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5397</TotalTime>
  <Words>2257</Words>
  <Application>Microsoft Office PowerPoint</Application>
  <PresentationFormat>On-screen Show (16:9)</PresentationFormat>
  <Paragraphs>515</Paragraphs>
  <Slides>48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65" baseType="lpstr">
      <vt:lpstr>Arial</vt:lpstr>
      <vt:lpstr>Calibri</vt:lpstr>
      <vt:lpstr>DroidSansBold</vt:lpstr>
      <vt:lpstr>FS Magistral Medium</vt:lpstr>
      <vt:lpstr>FS PF BeauSans Pro</vt:lpstr>
      <vt:lpstr>FS PF BeauSans Pro Light</vt:lpstr>
      <vt:lpstr>FS PF BeauSans Pro SemiBold</vt:lpstr>
      <vt:lpstr>FS PF BeauSans Pro XThin</vt:lpstr>
      <vt:lpstr>inherit</vt:lpstr>
      <vt:lpstr>Myriad Pro (Body)</vt:lpstr>
      <vt:lpstr>Myriad Pro Light</vt:lpstr>
      <vt:lpstr>Sarabun</vt:lpstr>
      <vt:lpstr>Sarabun ExtraBold</vt:lpstr>
      <vt:lpstr>Sarabun SemiBold</vt:lpstr>
      <vt:lpstr>1_Office Theme</vt:lpstr>
      <vt:lpstr>Visio</vt:lpstr>
      <vt:lpstr>Packager Shell Object</vt:lpstr>
      <vt:lpstr>PowerPoint Presentation</vt:lpstr>
      <vt:lpstr>PowerPoint Presentation</vt:lpstr>
      <vt:lpstr>Course</vt:lpstr>
      <vt:lpstr>Summary – Session 1</vt:lpstr>
      <vt:lpstr>PowerPoint Presentation</vt:lpstr>
      <vt:lpstr>I. 5G Introduction</vt:lpstr>
      <vt:lpstr>1. 5G</vt:lpstr>
      <vt:lpstr>2. ITU – International Telecommunication Union</vt:lpstr>
      <vt:lpstr>3. 3GPP – 3rd Generation Partnership Project</vt:lpstr>
      <vt:lpstr>4. 4G/5G Network Architecture Overview</vt:lpstr>
      <vt:lpstr>5. Non-standalone Architecture (NSA)</vt:lpstr>
      <vt:lpstr>6. 5G Standalone Architecture (SA)</vt:lpstr>
      <vt:lpstr>Student work</vt:lpstr>
      <vt:lpstr>8. 5G in Vietnam</vt:lpstr>
      <vt:lpstr>PowerPoint Presentation</vt:lpstr>
      <vt:lpstr>II. 5G Protocol Stack - gNodeB</vt:lpstr>
      <vt:lpstr>5G gNB Viettel</vt:lpstr>
      <vt:lpstr>1. Definition</vt:lpstr>
      <vt:lpstr>Transmission</vt:lpstr>
      <vt:lpstr>2. gNodeB Interfaces</vt:lpstr>
      <vt:lpstr>3. gNodeB Protocol Stack - Control plane</vt:lpstr>
      <vt:lpstr>4. gNodeB Protocol Stack - User plane</vt:lpstr>
      <vt:lpstr>4. Student work</vt:lpstr>
      <vt:lpstr>PowerPoint Presentation</vt:lpstr>
      <vt:lpstr>5. 5G NR Layer 3</vt:lpstr>
      <vt:lpstr>6. 5G NR Layer 2</vt:lpstr>
      <vt:lpstr>7. 5G NR Layer 1</vt:lpstr>
      <vt:lpstr>8. Channel mapping</vt:lpstr>
      <vt:lpstr>PowerPoint Presentation</vt:lpstr>
      <vt:lpstr>III. 5G NR Paging Feature</vt:lpstr>
      <vt:lpstr>1. What - Requirement</vt:lpstr>
      <vt:lpstr>2. Paging Call Flow</vt:lpstr>
      <vt:lpstr>3. 3GPP – Paging document </vt:lpstr>
      <vt:lpstr>3. 3GPP – NgAP Paging message </vt:lpstr>
      <vt:lpstr>3. 3GPP – RRC Paging message </vt:lpstr>
      <vt:lpstr>4. Paging Occasion</vt:lpstr>
      <vt:lpstr>5. Calculate the Paging Occasion at UE</vt:lpstr>
      <vt:lpstr>6. Example: calculation the PF/PO at UE  </vt:lpstr>
      <vt:lpstr>7. Example- Select the best Paging Occasion at gNB</vt:lpstr>
      <vt:lpstr>PowerPoint Presentation</vt:lpstr>
      <vt:lpstr>1. Exercise 1</vt:lpstr>
      <vt:lpstr>2. Exercise 2</vt:lpstr>
      <vt:lpstr>2. Exercise 2</vt:lpstr>
      <vt:lpstr>3. Exercise 3</vt:lpstr>
      <vt:lpstr>3. Note</vt:lpstr>
      <vt:lpstr>PowerPoint Presentation</vt:lpstr>
      <vt:lpstr>3GPP release</vt:lpstr>
      <vt:lpstr>8. 3GPP Release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MSI</dc:creator>
  <cp:lastModifiedBy>minh do</cp:lastModifiedBy>
  <cp:revision>290</cp:revision>
  <cp:lastPrinted>2022-11-08T10:59:49Z</cp:lastPrinted>
  <dcterms:created xsi:type="dcterms:W3CDTF">2021-01-04T02:51:39Z</dcterms:created>
  <dcterms:modified xsi:type="dcterms:W3CDTF">2024-08-04T16:02:51Z</dcterms:modified>
</cp:coreProperties>
</file>